
<file path=[Content_Types].xml><?xml version="1.0" encoding="utf-8"?>
<Types xmlns="http://schemas.openxmlformats.org/package/2006/content-types">
  <Default Extension="photo-1574687263812-a27e1c9e11ab" ContentType="image/photo-1574687263812-a27e1c9e11ab"/>
  <Default Extension="photo-1632580757871-e04f3a7e9917" ContentType="image/photo-1632580757871-e04f3a7e9917"/>
  <Default Extension="photo-1649180556628-9ba704115795" ContentType="image/photo-1649180556628-9ba704115795"/>
  <Default Extension="photo-1666875753105-c63a6f3bdc86" ContentType="image/photo-1666875753105-c63a6f3bdc86"/>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7" r:id="rId10"/>
    <p:sldId id="268" r:id="rId11"/>
    <p:sldId id="269" r:id="rId12"/>
    <p:sldId id="264" r:id="rId13"/>
    <p:sldId id="265" r:id="rId14"/>
    <p:sldId id="266"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97BD"/>
    <a:srgbClr val="3E69B5"/>
    <a:srgbClr val="0841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50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349163408981132E-2"/>
          <c:y val="1.5238535881472509E-2"/>
          <c:w val="0.89025584875395636"/>
          <c:h val="0.79833105635210566"/>
        </c:manualLayout>
      </c:layout>
      <c:barChart>
        <c:barDir val="bar"/>
        <c:grouping val="clustered"/>
        <c:varyColors val="0"/>
        <c:ser>
          <c:idx val="0"/>
          <c:order val="0"/>
          <c:tx>
            <c:strRef>
              <c:f>Sheet1!$B$1</c:f>
              <c:strCache>
                <c:ptCount val="1"/>
                <c:pt idx="0">
                  <c:v>First Class</c:v>
                </c:pt>
              </c:strCache>
            </c:strRef>
          </c:tx>
          <c:spPr>
            <a:solidFill>
              <a:schemeClr val="accent1"/>
            </a:solidFill>
            <a:ln>
              <a:noFill/>
            </a:ln>
            <a:effectLst/>
          </c:spPr>
          <c:invertIfNegative val="0"/>
          <c:cat>
            <c:strRef>
              <c:f>Sheet1!$A$2:$A$5</c:f>
              <c:strCache>
                <c:ptCount val="2"/>
                <c:pt idx="0">
                  <c:v>Female</c:v>
                </c:pt>
                <c:pt idx="1">
                  <c:v>Male</c:v>
                </c:pt>
              </c:strCache>
            </c:strRef>
          </c:cat>
          <c:val>
            <c:numRef>
              <c:f>Sheet1!$B$2:$B$5</c:f>
              <c:numCache>
                <c:formatCode>General</c:formatCode>
                <c:ptCount val="4"/>
                <c:pt idx="0">
                  <c:v>0.97</c:v>
                </c:pt>
                <c:pt idx="1">
                  <c:v>0.37</c:v>
                </c:pt>
              </c:numCache>
            </c:numRef>
          </c:val>
          <c:extLst>
            <c:ext xmlns:c16="http://schemas.microsoft.com/office/drawing/2014/chart" uri="{C3380CC4-5D6E-409C-BE32-E72D297353CC}">
              <c16:uniqueId val="{00000000-8B9C-4FA1-8958-7D13DC67EB14}"/>
            </c:ext>
          </c:extLst>
        </c:ser>
        <c:ser>
          <c:idx val="1"/>
          <c:order val="1"/>
          <c:tx>
            <c:strRef>
              <c:f>Sheet1!$C$1</c:f>
              <c:strCache>
                <c:ptCount val="1"/>
                <c:pt idx="0">
                  <c:v>Second Class</c:v>
                </c:pt>
              </c:strCache>
            </c:strRef>
          </c:tx>
          <c:spPr>
            <a:solidFill>
              <a:schemeClr val="accent2"/>
            </a:solidFill>
            <a:ln>
              <a:noFill/>
            </a:ln>
            <a:effectLst/>
          </c:spPr>
          <c:invertIfNegative val="0"/>
          <c:cat>
            <c:strRef>
              <c:f>Sheet1!$A$2:$A$5</c:f>
              <c:strCache>
                <c:ptCount val="2"/>
                <c:pt idx="0">
                  <c:v>Female</c:v>
                </c:pt>
                <c:pt idx="1">
                  <c:v>Male</c:v>
                </c:pt>
              </c:strCache>
            </c:strRef>
          </c:cat>
          <c:val>
            <c:numRef>
              <c:f>Sheet1!$C$2:$C$5</c:f>
              <c:numCache>
                <c:formatCode>General</c:formatCode>
                <c:ptCount val="4"/>
                <c:pt idx="0">
                  <c:v>0.92</c:v>
                </c:pt>
                <c:pt idx="1">
                  <c:v>0.16</c:v>
                </c:pt>
              </c:numCache>
            </c:numRef>
          </c:val>
          <c:extLst>
            <c:ext xmlns:c16="http://schemas.microsoft.com/office/drawing/2014/chart" uri="{C3380CC4-5D6E-409C-BE32-E72D297353CC}">
              <c16:uniqueId val="{00000001-8B9C-4FA1-8958-7D13DC67EB14}"/>
            </c:ext>
          </c:extLst>
        </c:ser>
        <c:ser>
          <c:idx val="2"/>
          <c:order val="2"/>
          <c:tx>
            <c:strRef>
              <c:f>Sheet1!$D$1</c:f>
              <c:strCache>
                <c:ptCount val="1"/>
                <c:pt idx="0">
                  <c:v>Third Class</c:v>
                </c:pt>
              </c:strCache>
            </c:strRef>
          </c:tx>
          <c:spPr>
            <a:solidFill>
              <a:schemeClr val="accent3"/>
            </a:solidFill>
            <a:ln>
              <a:noFill/>
            </a:ln>
            <a:effectLst/>
          </c:spPr>
          <c:invertIfNegative val="0"/>
          <c:cat>
            <c:strRef>
              <c:f>Sheet1!$A$2:$A$5</c:f>
              <c:strCache>
                <c:ptCount val="2"/>
                <c:pt idx="0">
                  <c:v>Female</c:v>
                </c:pt>
                <c:pt idx="1">
                  <c:v>Male</c:v>
                </c:pt>
              </c:strCache>
            </c:strRef>
          </c:cat>
          <c:val>
            <c:numRef>
              <c:f>Sheet1!$D$2:$D$5</c:f>
              <c:numCache>
                <c:formatCode>General</c:formatCode>
                <c:ptCount val="4"/>
                <c:pt idx="0">
                  <c:v>0.5</c:v>
                </c:pt>
                <c:pt idx="1">
                  <c:v>0.14000000000000001</c:v>
                </c:pt>
              </c:numCache>
            </c:numRef>
          </c:val>
          <c:extLst>
            <c:ext xmlns:c16="http://schemas.microsoft.com/office/drawing/2014/chart" uri="{C3380CC4-5D6E-409C-BE32-E72D297353CC}">
              <c16:uniqueId val="{00000002-8B9C-4FA1-8958-7D13DC67EB14}"/>
            </c:ext>
          </c:extLst>
        </c:ser>
        <c:dLbls>
          <c:dLblPos val="outEnd"/>
          <c:showLegendKey val="0"/>
          <c:showVal val="0"/>
          <c:showCatName val="0"/>
          <c:showSerName val="0"/>
          <c:showPercent val="0"/>
          <c:showBubbleSize val="0"/>
        </c:dLbls>
        <c:gapWidth val="182"/>
        <c:axId val="607227504"/>
        <c:axId val="607200144"/>
      </c:barChart>
      <c:catAx>
        <c:axId val="60722750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7200144"/>
        <c:crosses val="autoZero"/>
        <c:auto val="1"/>
        <c:lblAlgn val="ctr"/>
        <c:lblOffset val="100"/>
        <c:noMultiLvlLbl val="0"/>
      </c:catAx>
      <c:valAx>
        <c:axId val="6072001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7227504"/>
        <c:crosses val="autoZero"/>
        <c:crossBetween val="between"/>
      </c:valAx>
      <c:spPr>
        <a:noFill/>
        <a:ln>
          <a:noFill/>
        </a:ln>
        <a:effectLst/>
      </c:spPr>
    </c:plotArea>
    <c:legend>
      <c:legendPos val="b"/>
      <c:layout>
        <c:manualLayout>
          <c:xMode val="edge"/>
          <c:yMode val="edge"/>
          <c:x val="0.29432137274951875"/>
          <c:y val="0.93763191232586374"/>
          <c:w val="0.3715218848427263"/>
          <c:h val="6.23680876741362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57616035292545"/>
          <c:y val="2.1333950234061511E-2"/>
          <c:w val="0.81884340863368299"/>
          <c:h val="0.79833105635210566"/>
        </c:manualLayout>
      </c:layout>
      <c:barChart>
        <c:barDir val="bar"/>
        <c:grouping val="clustered"/>
        <c:varyColors val="0"/>
        <c:ser>
          <c:idx val="0"/>
          <c:order val="0"/>
          <c:tx>
            <c:strRef>
              <c:f>Sheet1!$B$1</c:f>
              <c:strCache>
                <c:ptCount val="1"/>
                <c:pt idx="0">
                  <c:v>Survival Rate</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Cherbourg (C)</c:v>
                </c:pt>
                <c:pt idx="1">
                  <c:v>Queenstown (Q)</c:v>
                </c:pt>
                <c:pt idx="2">
                  <c:v>Southampton (S)</c:v>
                </c:pt>
              </c:strCache>
            </c:strRef>
          </c:cat>
          <c:val>
            <c:numRef>
              <c:f>Sheet1!$B$2:$B$4</c:f>
              <c:numCache>
                <c:formatCode>General</c:formatCode>
                <c:ptCount val="3"/>
                <c:pt idx="0">
                  <c:v>0.55000000000000004</c:v>
                </c:pt>
                <c:pt idx="1">
                  <c:v>0.39</c:v>
                </c:pt>
                <c:pt idx="2">
                  <c:v>0.34</c:v>
                </c:pt>
              </c:numCache>
            </c:numRef>
          </c:val>
          <c:extLst>
            <c:ext xmlns:c16="http://schemas.microsoft.com/office/drawing/2014/chart" uri="{C3380CC4-5D6E-409C-BE32-E72D297353CC}">
              <c16:uniqueId val="{00000000-8B9C-4FA1-8958-7D13DC67EB14}"/>
            </c:ext>
          </c:extLst>
        </c:ser>
        <c:dLbls>
          <c:showLegendKey val="0"/>
          <c:showVal val="1"/>
          <c:showCatName val="0"/>
          <c:showSerName val="0"/>
          <c:showPercent val="0"/>
          <c:showBubbleSize val="0"/>
        </c:dLbls>
        <c:gapWidth val="326"/>
        <c:overlap val="-58"/>
        <c:axId val="607227504"/>
        <c:axId val="607200144"/>
      </c:barChart>
      <c:catAx>
        <c:axId val="607227504"/>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7200144"/>
        <c:crosses val="autoZero"/>
        <c:auto val="1"/>
        <c:lblAlgn val="ctr"/>
        <c:lblOffset val="100"/>
        <c:noMultiLvlLbl val="0"/>
      </c:catAx>
      <c:valAx>
        <c:axId val="607200144"/>
        <c:scaling>
          <c:orientation val="minMax"/>
        </c:scaling>
        <c:delete val="0"/>
        <c:axPos val="b"/>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72275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57616035292545"/>
          <c:y val="2.1333950234061511E-2"/>
          <c:w val="0.81884340863368299"/>
          <c:h val="0.79833105635210566"/>
        </c:manualLayout>
      </c:layout>
      <c:barChart>
        <c:barDir val="bar"/>
        <c:grouping val="clustered"/>
        <c:varyColors val="0"/>
        <c:ser>
          <c:idx val="0"/>
          <c:order val="0"/>
          <c:tx>
            <c:strRef>
              <c:f>Sheet1!$B$1</c:f>
              <c:strCache>
                <c:ptCount val="1"/>
                <c:pt idx="0">
                  <c:v>Survival Rate</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Low Fare</c:v>
                </c:pt>
                <c:pt idx="1">
                  <c:v>Medium Fare</c:v>
                </c:pt>
                <c:pt idx="2">
                  <c:v>High Fare</c:v>
                </c:pt>
              </c:strCache>
            </c:strRef>
          </c:cat>
          <c:val>
            <c:numRef>
              <c:f>Sheet1!$B$2:$B$4</c:f>
              <c:numCache>
                <c:formatCode>General</c:formatCode>
                <c:ptCount val="3"/>
                <c:pt idx="0">
                  <c:v>0.38</c:v>
                </c:pt>
                <c:pt idx="1">
                  <c:v>0.65</c:v>
                </c:pt>
                <c:pt idx="2">
                  <c:v>0.98</c:v>
                </c:pt>
              </c:numCache>
            </c:numRef>
          </c:val>
          <c:extLst>
            <c:ext xmlns:c16="http://schemas.microsoft.com/office/drawing/2014/chart" uri="{C3380CC4-5D6E-409C-BE32-E72D297353CC}">
              <c16:uniqueId val="{00000000-8B9C-4FA1-8958-7D13DC67EB14}"/>
            </c:ext>
          </c:extLst>
        </c:ser>
        <c:dLbls>
          <c:showLegendKey val="0"/>
          <c:showVal val="1"/>
          <c:showCatName val="0"/>
          <c:showSerName val="0"/>
          <c:showPercent val="0"/>
          <c:showBubbleSize val="0"/>
        </c:dLbls>
        <c:gapWidth val="326"/>
        <c:overlap val="-58"/>
        <c:axId val="607227504"/>
        <c:axId val="607200144"/>
      </c:barChart>
      <c:catAx>
        <c:axId val="607227504"/>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7200144"/>
        <c:crosses val="autoZero"/>
        <c:auto val="1"/>
        <c:lblAlgn val="ctr"/>
        <c:lblOffset val="100"/>
        <c:noMultiLvlLbl val="0"/>
      </c:catAx>
      <c:valAx>
        <c:axId val="607200144"/>
        <c:scaling>
          <c:orientation val="minMax"/>
        </c:scaling>
        <c:delete val="0"/>
        <c:axPos val="b"/>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72275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57616035292545"/>
          <c:y val="2.1333950234061511E-2"/>
          <c:w val="0.81884340863368299"/>
          <c:h val="0.79833105635210566"/>
        </c:manualLayout>
      </c:layout>
      <c:barChart>
        <c:barDir val="bar"/>
        <c:grouping val="clustered"/>
        <c:varyColors val="0"/>
        <c:ser>
          <c:idx val="0"/>
          <c:order val="0"/>
          <c:tx>
            <c:strRef>
              <c:f>Sheet1!$B$1</c:f>
              <c:strCache>
                <c:ptCount val="1"/>
                <c:pt idx="0">
                  <c:v>Survival Rate</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Sheet1!$A$2:$A$6</c:f>
              <c:numCache>
                <c:formatCode>General</c:formatCode>
                <c:ptCount val="5"/>
                <c:pt idx="0">
                  <c:v>0</c:v>
                </c:pt>
                <c:pt idx="1">
                  <c:v>1</c:v>
                </c:pt>
                <c:pt idx="2">
                  <c:v>2</c:v>
                </c:pt>
                <c:pt idx="3">
                  <c:v>3</c:v>
                </c:pt>
                <c:pt idx="4">
                  <c:v>4</c:v>
                </c:pt>
              </c:numCache>
            </c:numRef>
          </c:cat>
          <c:val>
            <c:numRef>
              <c:f>Sheet1!$B$2:$B$6</c:f>
              <c:numCache>
                <c:formatCode>General</c:formatCode>
                <c:ptCount val="5"/>
                <c:pt idx="0">
                  <c:v>0.33</c:v>
                </c:pt>
                <c:pt idx="1">
                  <c:v>0.52</c:v>
                </c:pt>
                <c:pt idx="2">
                  <c:v>0.46</c:v>
                </c:pt>
                <c:pt idx="3">
                  <c:v>0.25</c:v>
                </c:pt>
                <c:pt idx="4">
                  <c:v>0.18</c:v>
                </c:pt>
              </c:numCache>
            </c:numRef>
          </c:val>
          <c:extLst>
            <c:ext xmlns:c16="http://schemas.microsoft.com/office/drawing/2014/chart" uri="{C3380CC4-5D6E-409C-BE32-E72D297353CC}">
              <c16:uniqueId val="{00000000-8B9C-4FA1-8958-7D13DC67EB14}"/>
            </c:ext>
          </c:extLst>
        </c:ser>
        <c:dLbls>
          <c:dLblPos val="outEnd"/>
          <c:showLegendKey val="0"/>
          <c:showVal val="1"/>
          <c:showCatName val="0"/>
          <c:showSerName val="0"/>
          <c:showPercent val="0"/>
          <c:showBubbleSize val="0"/>
        </c:dLbls>
        <c:gapWidth val="326"/>
        <c:overlap val="-58"/>
        <c:axId val="607227504"/>
        <c:axId val="607200144"/>
      </c:barChart>
      <c:catAx>
        <c:axId val="607227504"/>
        <c:scaling>
          <c:orientation val="minMax"/>
        </c:scaling>
        <c:delete val="0"/>
        <c:axPos val="l"/>
        <c:numFmt formatCode="General" sourceLinked="1"/>
        <c:majorTickMark val="out"/>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7200144"/>
        <c:crosses val="autoZero"/>
        <c:auto val="1"/>
        <c:lblAlgn val="ctr"/>
        <c:lblOffset val="100"/>
        <c:noMultiLvlLbl val="0"/>
      </c:catAx>
      <c:valAx>
        <c:axId val="607200144"/>
        <c:scaling>
          <c:orientation val="minMax"/>
        </c:scaling>
        <c:delete val="0"/>
        <c:axPos val="b"/>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72275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57616035292545"/>
          <c:y val="2.1333950234061511E-2"/>
          <c:w val="0.81884340863368299"/>
          <c:h val="0.79833105635210566"/>
        </c:manualLayout>
      </c:layout>
      <c:barChart>
        <c:barDir val="bar"/>
        <c:grouping val="clustered"/>
        <c:varyColors val="0"/>
        <c:ser>
          <c:idx val="0"/>
          <c:order val="0"/>
          <c:tx>
            <c:strRef>
              <c:f>Sheet1!$B$1</c:f>
              <c:strCache>
                <c:ptCount val="1"/>
                <c:pt idx="0">
                  <c:v>Survival Rate</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dLbls>
            <c:spPr>
              <a:noFill/>
              <a:ln>
                <a:noFill/>
              </a:ln>
              <a:effectLst/>
            </c:spPr>
            <c:txPr>
              <a:bodyPr rot="0" spcFirstLastPara="1" vertOverflow="ellipsis" vert="horz" wrap="square" anchor="ctr" anchorCtr="1"/>
              <a:lstStyle/>
              <a:p>
                <a:pPr>
                  <a:defRPr lang="en-US"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Sheet1!$A$2:$A$6</c:f>
              <c:numCache>
                <c:formatCode>General</c:formatCode>
                <c:ptCount val="5"/>
                <c:pt idx="0">
                  <c:v>0</c:v>
                </c:pt>
                <c:pt idx="1">
                  <c:v>1</c:v>
                </c:pt>
                <c:pt idx="2">
                  <c:v>2</c:v>
                </c:pt>
                <c:pt idx="3">
                  <c:v>3</c:v>
                </c:pt>
                <c:pt idx="4">
                  <c:v>5</c:v>
                </c:pt>
              </c:numCache>
            </c:numRef>
          </c:cat>
          <c:val>
            <c:numRef>
              <c:f>Sheet1!$B$2:$B$6</c:f>
              <c:numCache>
                <c:formatCode>General</c:formatCode>
                <c:ptCount val="5"/>
                <c:pt idx="0">
                  <c:v>0.35</c:v>
                </c:pt>
                <c:pt idx="1">
                  <c:v>0.55000000000000004</c:v>
                </c:pt>
                <c:pt idx="2">
                  <c:v>0.5</c:v>
                </c:pt>
                <c:pt idx="3">
                  <c:v>0.57999999999999996</c:v>
                </c:pt>
                <c:pt idx="4">
                  <c:v>0.2</c:v>
                </c:pt>
              </c:numCache>
            </c:numRef>
          </c:val>
          <c:extLst>
            <c:ext xmlns:c16="http://schemas.microsoft.com/office/drawing/2014/chart" uri="{C3380CC4-5D6E-409C-BE32-E72D297353CC}">
              <c16:uniqueId val="{00000000-D887-4B41-90F6-F4FABCFADC35}"/>
            </c:ext>
          </c:extLst>
        </c:ser>
        <c:dLbls>
          <c:showLegendKey val="0"/>
          <c:showVal val="1"/>
          <c:showCatName val="0"/>
          <c:showSerName val="0"/>
          <c:showPercent val="0"/>
          <c:showBubbleSize val="0"/>
        </c:dLbls>
        <c:gapWidth val="326"/>
        <c:overlap val="-58"/>
        <c:axId val="607227504"/>
        <c:axId val="607200144"/>
      </c:barChart>
      <c:catAx>
        <c:axId val="607227504"/>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lang="en-US" sz="1197" b="0" i="0" u="none" strike="noStrike" kern="1200" baseline="0">
                <a:solidFill>
                  <a:schemeClr val="tx1">
                    <a:lumMod val="65000"/>
                    <a:lumOff val="35000"/>
                  </a:schemeClr>
                </a:solidFill>
                <a:latin typeface="+mn-lt"/>
                <a:ea typeface="+mn-ea"/>
                <a:cs typeface="+mn-cs"/>
              </a:defRPr>
            </a:pPr>
            <a:endParaRPr lang="en-US"/>
          </a:p>
        </c:txPr>
        <c:crossAx val="607200144"/>
        <c:crosses val="autoZero"/>
        <c:auto val="1"/>
        <c:lblAlgn val="ctr"/>
        <c:lblOffset val="100"/>
        <c:noMultiLvlLbl val="0"/>
      </c:catAx>
      <c:valAx>
        <c:axId val="607200144"/>
        <c:scaling>
          <c:orientation val="minMax"/>
        </c:scaling>
        <c:delete val="0"/>
        <c:axPos val="b"/>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7" b="0" i="0" u="none" strike="noStrike" kern="1200" baseline="0">
                <a:solidFill>
                  <a:schemeClr val="tx1">
                    <a:lumMod val="65000"/>
                    <a:lumOff val="35000"/>
                  </a:schemeClr>
                </a:solidFill>
                <a:latin typeface="+mn-lt"/>
                <a:ea typeface="+mn-ea"/>
                <a:cs typeface="+mn-cs"/>
              </a:defRPr>
            </a:pPr>
            <a:endParaRPr lang="en-US"/>
          </a:p>
        </c:txPr>
        <c:crossAx val="6072275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821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31ABB-8505-2EA2-3544-FAFF4C002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EB641-4EC8-5B66-747D-486DE2CCD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DDB35-3E3D-A210-BB6A-FF08BE7F6B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BD4037-51B7-2682-6D1F-986CA8AB0F9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78262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41993-95A1-7EAD-E82E-54BD7D40F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8DE2A-9DC0-BBA8-B031-3D7C5CB16B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E8905C-E8C0-8498-A240-8B6242ABE1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4FC8E3-2878-28D7-480F-31D903B8F10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44035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2F5D5-E478-FB2F-D745-62506FF223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A79CD-3AAE-1CBD-D17F-E14D3873FF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5225A8-9B9B-D3F0-4B48-F3625074F5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149793-3F2D-C286-63D5-9E6A6D45E75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99485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photo-1574687263812-a27e1c9e11ab"/><Relationship Id="rId4" Type="http://schemas.openxmlformats.org/officeDocument/2006/relationships/image" Target="../media/image10.png"/><Relationship Id="rId9"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hoto-1649180556628-9ba704115795"/><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9.photo-1666875753105-c63a6f3bdc86"/><Relationship Id="rId5" Type="http://schemas.openxmlformats.org/officeDocument/2006/relationships/image" Target="../media/image16.photo-1574687263812-a27e1c9e11ab"/><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8.photo-1632580757871-e04f3a7e9917"/><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904952" y="1904952"/>
            <a:ext cx="5079873" cy="4907328"/>
          </a:xfrm>
          <a:prstGeom prst="rect">
            <a:avLst/>
          </a:prstGeom>
        </p:spPr>
      </p:pic>
      <p:pic>
        <p:nvPicPr>
          <p:cNvPr id="3" name="Image 1" descr="preencoded.png"/>
          <p:cNvPicPr>
            <a:picLocks noChangeAspect="1"/>
          </p:cNvPicPr>
          <p:nvPr/>
        </p:nvPicPr>
        <p:blipFill>
          <a:blip r:embed="rId4"/>
          <a:stretch>
            <a:fillRect/>
          </a:stretch>
        </p:blipFill>
        <p:spPr>
          <a:xfrm>
            <a:off x="9016775" y="1904952"/>
            <a:ext cx="3129201" cy="4907328"/>
          </a:xfrm>
          <a:prstGeom prst="rect">
            <a:avLst/>
          </a:prstGeom>
        </p:spPr>
      </p:pic>
      <p:pic>
        <p:nvPicPr>
          <p:cNvPr id="4" name="Image 2" descr="preencoded.png"/>
          <p:cNvPicPr>
            <a:picLocks noChangeAspect="1"/>
          </p:cNvPicPr>
          <p:nvPr/>
        </p:nvPicPr>
        <p:blipFill>
          <a:blip r:embed="rId5"/>
          <a:stretch>
            <a:fillRect/>
          </a:stretch>
        </p:blipFill>
        <p:spPr>
          <a:xfrm>
            <a:off x="380990" y="380990"/>
            <a:ext cx="761981" cy="761981"/>
          </a:xfrm>
          <a:prstGeom prst="rect">
            <a:avLst/>
          </a:prstGeom>
        </p:spPr>
      </p:pic>
      <p:pic>
        <p:nvPicPr>
          <p:cNvPr id="5" name="Image 3" descr="preencoded.png"/>
          <p:cNvPicPr>
            <a:picLocks noChangeAspect="1"/>
          </p:cNvPicPr>
          <p:nvPr/>
        </p:nvPicPr>
        <p:blipFill>
          <a:blip r:embed="rId6"/>
          <a:stretch>
            <a:fillRect/>
          </a:stretch>
        </p:blipFill>
        <p:spPr>
          <a:xfrm>
            <a:off x="11048724" y="380990"/>
            <a:ext cx="761981" cy="761981"/>
          </a:xfrm>
          <a:prstGeom prst="rect">
            <a:avLst/>
          </a:prstGeom>
        </p:spPr>
      </p:pic>
      <p:pic>
        <p:nvPicPr>
          <p:cNvPr id="6" name="Image 4" descr="preencoded.png"/>
          <p:cNvPicPr>
            <a:picLocks noChangeAspect="1"/>
          </p:cNvPicPr>
          <p:nvPr/>
        </p:nvPicPr>
        <p:blipFill>
          <a:blip r:embed="rId7"/>
          <a:stretch>
            <a:fillRect/>
          </a:stretch>
        </p:blipFill>
        <p:spPr>
          <a:xfrm>
            <a:off x="380990" y="5714857"/>
            <a:ext cx="761981" cy="761981"/>
          </a:xfrm>
          <a:prstGeom prst="rect">
            <a:avLst/>
          </a:prstGeom>
        </p:spPr>
      </p:pic>
      <p:pic>
        <p:nvPicPr>
          <p:cNvPr id="7" name="Image 5" descr="preencoded.png"/>
          <p:cNvPicPr>
            <a:picLocks noChangeAspect="1"/>
          </p:cNvPicPr>
          <p:nvPr/>
        </p:nvPicPr>
        <p:blipFill>
          <a:blip r:embed="rId8"/>
          <a:stretch>
            <a:fillRect/>
          </a:stretch>
        </p:blipFill>
        <p:spPr>
          <a:xfrm>
            <a:off x="11048724" y="5714857"/>
            <a:ext cx="761981" cy="761981"/>
          </a:xfrm>
          <a:prstGeom prst="rect">
            <a:avLst/>
          </a:prstGeom>
        </p:spPr>
      </p:pic>
      <p:pic>
        <p:nvPicPr>
          <p:cNvPr id="8" name="Image 6" descr="preencoded.png"/>
          <p:cNvPicPr>
            <a:picLocks noChangeAspect="1"/>
          </p:cNvPicPr>
          <p:nvPr/>
        </p:nvPicPr>
        <p:blipFill>
          <a:blip r:embed="rId9"/>
          <a:stretch>
            <a:fillRect/>
          </a:stretch>
        </p:blipFill>
        <p:spPr>
          <a:xfrm>
            <a:off x="0" y="0"/>
            <a:ext cx="12145975" cy="50799"/>
          </a:xfrm>
          <a:prstGeom prst="rect">
            <a:avLst/>
          </a:prstGeom>
        </p:spPr>
      </p:pic>
      <p:pic>
        <p:nvPicPr>
          <p:cNvPr id="9" name="Image 7" descr="preencoded.png"/>
          <p:cNvPicPr>
            <a:picLocks noChangeAspect="1"/>
          </p:cNvPicPr>
          <p:nvPr/>
        </p:nvPicPr>
        <p:blipFill>
          <a:blip r:embed="rId10"/>
          <a:stretch>
            <a:fillRect/>
          </a:stretch>
        </p:blipFill>
        <p:spPr>
          <a:xfrm>
            <a:off x="0" y="6807030"/>
            <a:ext cx="12145975" cy="5250"/>
          </a:xfrm>
          <a:prstGeom prst="rect">
            <a:avLst/>
          </a:prstGeom>
        </p:spPr>
      </p:pic>
      <p:sp>
        <p:nvSpPr>
          <p:cNvPr id="10" name="Text 0"/>
          <p:cNvSpPr/>
          <p:nvPr/>
        </p:nvSpPr>
        <p:spPr>
          <a:xfrm>
            <a:off x="1015975" y="1015975"/>
            <a:ext cx="10159746" cy="1015975"/>
          </a:xfrm>
          <a:prstGeom prst="rect">
            <a:avLst/>
          </a:prstGeom>
          <a:noFill/>
          <a:ln/>
        </p:spPr>
        <p:txBody>
          <a:bodyPr wrap="square" lIns="1016" tIns="1016" rIns="1016" bIns="1016" rtlCol="0" anchor="t"/>
          <a:lstStyle/>
          <a:p>
            <a:pPr marL="0" indent="0" algn="ctr">
              <a:lnSpc>
                <a:spcPct val="130000"/>
              </a:lnSpc>
              <a:buNone/>
            </a:pPr>
            <a:r>
              <a:rPr lang="en-US" sz="4000" b="1" dirty="0">
                <a:solidFill>
                  <a:srgbClr val="00FFFF"/>
                </a:solidFill>
                <a:latin typeface="Calibri" pitchFamily="34" charset="0"/>
                <a:ea typeface="Calibri" pitchFamily="34" charset="-122"/>
                <a:cs typeface="Calibri" pitchFamily="34" charset="-120"/>
              </a:rPr>
              <a:t>Titanic Survival Analysis Report</a:t>
            </a:r>
            <a:r>
              <a:rPr lang="en-US" sz="4000" dirty="0">
                <a:solidFill>
                  <a:srgbClr val="00FFFF"/>
                </a:solidFill>
                <a:latin typeface="Calibri" pitchFamily="34" charset="0"/>
                <a:ea typeface="Calibri" pitchFamily="34" charset="-122"/>
                <a:cs typeface="Calibri" pitchFamily="34" charset="-120"/>
              </a:rPr>
              <a:t>
</a:t>
            </a:r>
            <a:endParaRPr lang="en-US" sz="4000" dirty="0"/>
          </a:p>
        </p:txBody>
      </p:sp>
      <p:sp>
        <p:nvSpPr>
          <p:cNvPr id="11" name="Text 1"/>
          <p:cNvSpPr/>
          <p:nvPr/>
        </p:nvSpPr>
        <p:spPr>
          <a:xfrm>
            <a:off x="1015975" y="2158946"/>
            <a:ext cx="10286743" cy="507987"/>
          </a:xfrm>
          <a:prstGeom prst="rect">
            <a:avLst/>
          </a:prstGeom>
          <a:noFill/>
          <a:ln/>
        </p:spPr>
        <p:txBody>
          <a:bodyPr wrap="square" lIns="1016" tIns="1016" rIns="1016" bIns="1016" rtlCol="0" anchor="t"/>
          <a:lstStyle/>
          <a:p>
            <a:pPr marL="0" indent="0" algn="ctr">
              <a:lnSpc>
                <a:spcPct val="130000"/>
              </a:lnSpc>
              <a:buNone/>
            </a:pPr>
            <a:r>
              <a:rPr lang="en-US" sz="1600" dirty="0">
                <a:solidFill>
                  <a:srgbClr val="B8C5D6"/>
                </a:solidFill>
                <a:latin typeface="Calibri" pitchFamily="34" charset="0"/>
                <a:ea typeface="Calibri" pitchFamily="34" charset="-122"/>
                <a:cs typeface="Calibri" pitchFamily="34" charset="-120"/>
              </a:rPr>
              <a:t>
</a:t>
            </a:r>
            <a:endParaRPr lang="en-US" sz="1600" dirty="0"/>
          </a:p>
        </p:txBody>
      </p:sp>
      <p:sp>
        <p:nvSpPr>
          <p:cNvPr id="12" name="Text 2"/>
          <p:cNvSpPr/>
          <p:nvPr/>
        </p:nvSpPr>
        <p:spPr>
          <a:xfrm>
            <a:off x="1015975" y="2621886"/>
            <a:ext cx="10159746" cy="380990"/>
          </a:xfrm>
          <a:prstGeom prst="rect">
            <a:avLst/>
          </a:prstGeom>
          <a:noFill/>
          <a:ln/>
        </p:spPr>
        <p:txBody>
          <a:bodyPr wrap="square" lIns="1016" tIns="1016" rIns="1016" bIns="1016" rtlCol="0" anchor="t"/>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PRESENTED BY
</a:t>
            </a:r>
            <a:endParaRPr lang="en-US" sz="1100" dirty="0"/>
          </a:p>
        </p:txBody>
      </p:sp>
      <p:sp>
        <p:nvSpPr>
          <p:cNvPr id="13" name="Text 3"/>
          <p:cNvSpPr/>
          <p:nvPr/>
        </p:nvSpPr>
        <p:spPr>
          <a:xfrm>
            <a:off x="507987" y="3332349"/>
            <a:ext cx="11175721" cy="584185"/>
          </a:xfrm>
          <a:prstGeom prst="rect">
            <a:avLst/>
          </a:prstGeom>
          <a:noFill/>
          <a:ln/>
        </p:spPr>
        <p:txBody>
          <a:bodyPr wrap="square" lIns="1016" tIns="1016" rIns="1016" bIns="1016" rtlCol="0" anchor="t"/>
          <a:lstStyle/>
          <a:p>
            <a:pPr marL="0" indent="0" algn="ctr">
              <a:lnSpc>
                <a:spcPct val="130000"/>
              </a:lnSpc>
              <a:buNone/>
            </a:pPr>
            <a:r>
              <a:rPr lang="en-US" sz="2200" dirty="0">
                <a:solidFill>
                  <a:srgbClr val="E8EDF5"/>
                </a:solidFill>
                <a:latin typeface="Calibri" pitchFamily="34" charset="0"/>
                <a:ea typeface="Calibri" pitchFamily="34" charset="-122"/>
                <a:cs typeface="Calibri" pitchFamily="34" charset="-120"/>
              </a:rPr>
              <a:t>Ali Mohamed Mostafa
</a:t>
            </a:r>
            <a:endParaRPr lang="en-US" sz="2200" dirty="0"/>
          </a:p>
        </p:txBody>
      </p:sp>
      <p:sp>
        <p:nvSpPr>
          <p:cNvPr id="14" name="Text 4"/>
          <p:cNvSpPr/>
          <p:nvPr/>
        </p:nvSpPr>
        <p:spPr>
          <a:xfrm>
            <a:off x="507987" y="4695528"/>
            <a:ext cx="11175721" cy="507987"/>
          </a:xfrm>
          <a:prstGeom prst="rect">
            <a:avLst/>
          </a:prstGeom>
          <a:noFill/>
          <a:ln/>
        </p:spPr>
        <p:txBody>
          <a:bodyPr wrap="square" lIns="1016" tIns="1016" rIns="1016" bIns="1016" rtlCol="0" anchor="t"/>
          <a:lstStyle/>
          <a:p>
            <a:pPr marL="0" indent="0" algn="ctr">
              <a:lnSpc>
                <a:spcPct val="130000"/>
              </a:lnSpc>
              <a:buNone/>
            </a:pPr>
            <a:r>
              <a:rPr lang="en-US" sz="1800" dirty="0">
                <a:solidFill>
                  <a:srgbClr val="FF0000"/>
                </a:solidFill>
                <a:latin typeface="Calibri" pitchFamily="34" charset="0"/>
                <a:ea typeface="Calibri" pitchFamily="34" charset="-122"/>
                <a:cs typeface="Calibri" pitchFamily="34" charset="-120"/>
              </a:rPr>
              <a:t>IEEE SSCS
</a:t>
            </a:r>
            <a:endParaRPr lang="en-US" sz="1800" dirty="0"/>
          </a:p>
        </p:txBody>
      </p:sp>
      <p:sp>
        <p:nvSpPr>
          <p:cNvPr id="15" name="Text 5"/>
          <p:cNvSpPr/>
          <p:nvPr/>
        </p:nvSpPr>
        <p:spPr>
          <a:xfrm>
            <a:off x="1015975" y="4381390"/>
            <a:ext cx="10286743" cy="507987"/>
          </a:xfrm>
          <a:prstGeom prst="rect">
            <a:avLst/>
          </a:prstGeom>
          <a:noFill/>
          <a:ln/>
        </p:spPr>
        <p:txBody>
          <a:bodyPr wrap="square" lIns="1016" tIns="1016" rIns="1016" bIns="1016" rtlCol="0" anchor="t"/>
          <a:lstStyle/>
          <a:p>
            <a:pPr marL="0" indent="0" algn="ctr">
              <a:lnSpc>
                <a:spcPct val="130000"/>
              </a:lnSpc>
              <a:buNone/>
            </a:pPr>
            <a:r>
              <a:rPr lang="en-US" sz="1400" dirty="0">
                <a:solidFill>
                  <a:srgbClr val="B8C5D6"/>
                </a:solidFill>
                <a:latin typeface="Calibri" pitchFamily="34" charset="0"/>
                <a:ea typeface="Calibri" pitchFamily="34" charset="-122"/>
                <a:cs typeface="Calibri" pitchFamily="34" charset="-120"/>
              </a:rPr>
              <a:t>
</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524762" y="-634984"/>
            <a:ext cx="2621213" cy="3174921"/>
          </a:xfrm>
          <a:prstGeom prst="rect">
            <a:avLst/>
          </a:prstGeom>
        </p:spPr>
      </p:pic>
      <p:pic>
        <p:nvPicPr>
          <p:cNvPr id="3" name="Image 1" descr="preencoded.png"/>
          <p:cNvPicPr>
            <a:picLocks noChangeAspect="1"/>
          </p:cNvPicPr>
          <p:nvPr/>
        </p:nvPicPr>
        <p:blipFill>
          <a:blip r:embed="rId4"/>
          <a:stretch>
            <a:fillRect/>
          </a:stretch>
        </p:blipFill>
        <p:spPr>
          <a:xfrm>
            <a:off x="-1015975" y="4825879"/>
            <a:ext cx="3809905" cy="1986401"/>
          </a:xfrm>
          <a:prstGeom prst="rect">
            <a:avLst/>
          </a:prstGeom>
        </p:spPr>
      </p:pic>
      <p:pic>
        <p:nvPicPr>
          <p:cNvPr id="4" name="Image 2" descr="preencoded.png"/>
          <p:cNvPicPr>
            <a:picLocks noChangeAspect="1"/>
          </p:cNvPicPr>
          <p:nvPr/>
        </p:nvPicPr>
        <p:blipFill>
          <a:blip r:embed="rId3"/>
          <a:stretch>
            <a:fillRect/>
          </a:stretch>
        </p:blipFill>
        <p:spPr>
          <a:xfrm>
            <a:off x="9524762" y="-634984"/>
            <a:ext cx="2621213" cy="3174921"/>
          </a:xfrm>
          <a:prstGeom prst="rect">
            <a:avLst/>
          </a:prstGeom>
        </p:spPr>
      </p:pic>
      <p:pic>
        <p:nvPicPr>
          <p:cNvPr id="5" name="Image 3" descr="preencoded.png"/>
          <p:cNvPicPr>
            <a:picLocks noChangeAspect="1"/>
          </p:cNvPicPr>
          <p:nvPr/>
        </p:nvPicPr>
        <p:blipFill>
          <a:blip r:embed="rId4"/>
          <a:stretch>
            <a:fillRect/>
          </a:stretch>
        </p:blipFill>
        <p:spPr>
          <a:xfrm>
            <a:off x="-1015975" y="4825879"/>
            <a:ext cx="3809905" cy="1986401"/>
          </a:xfrm>
          <a:prstGeom prst="rect">
            <a:avLst/>
          </a:prstGeom>
        </p:spPr>
      </p:pic>
      <p:pic>
        <p:nvPicPr>
          <p:cNvPr id="6"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73803" y="761981"/>
            <a:ext cx="1015975" cy="1015975"/>
          </a:xfrm>
          <a:prstGeom prst="rect">
            <a:avLst/>
          </a:prstGeom>
        </p:spPr>
      </p:pic>
      <p:pic>
        <p:nvPicPr>
          <p:cNvPr id="7" name="Image 5" descr="preencoded.png"/>
          <p:cNvPicPr>
            <a:picLocks noChangeAspect="1"/>
          </p:cNvPicPr>
          <p:nvPr/>
        </p:nvPicPr>
        <p:blipFill>
          <a:blip r:embed="rId7"/>
          <a:stretch>
            <a:fillRect/>
          </a:stretch>
        </p:blipFill>
        <p:spPr>
          <a:xfrm>
            <a:off x="11175721" y="5841854"/>
            <a:ext cx="507987" cy="507987"/>
          </a:xfrm>
          <a:prstGeom prst="rect">
            <a:avLst/>
          </a:prstGeom>
        </p:spPr>
      </p:pic>
      <p:pic>
        <p:nvPicPr>
          <p:cNvPr id="8" name="Image 6" descr="preencoded.png"/>
          <p:cNvPicPr>
            <a:picLocks noChangeAspect="1"/>
          </p:cNvPicPr>
          <p:nvPr/>
        </p:nvPicPr>
        <p:blipFill>
          <a:blip r:embed="rId8"/>
          <a:stretch>
            <a:fillRect/>
          </a:stretch>
        </p:blipFill>
        <p:spPr>
          <a:xfrm>
            <a:off x="507987" y="507987"/>
            <a:ext cx="507987" cy="507987"/>
          </a:xfrm>
          <a:prstGeom prst="rect">
            <a:avLst/>
          </a:prstGeom>
        </p:spPr>
      </p:pic>
      <p:pic>
        <p:nvPicPr>
          <p:cNvPr id="9" name="Image 7"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73803" y="761981"/>
            <a:ext cx="1015975" cy="1015975"/>
          </a:xfrm>
          <a:prstGeom prst="rect">
            <a:avLst/>
          </a:prstGeom>
        </p:spPr>
      </p:pic>
      <p:pic>
        <p:nvPicPr>
          <p:cNvPr id="10" name="Image 8" descr="preencoded.png"/>
          <p:cNvPicPr>
            <a:picLocks noChangeAspect="1"/>
          </p:cNvPicPr>
          <p:nvPr/>
        </p:nvPicPr>
        <p:blipFill>
          <a:blip r:embed="rId7"/>
          <a:stretch>
            <a:fillRect/>
          </a:stretch>
        </p:blipFill>
        <p:spPr>
          <a:xfrm>
            <a:off x="11175721" y="5841854"/>
            <a:ext cx="507987" cy="507987"/>
          </a:xfrm>
          <a:prstGeom prst="rect">
            <a:avLst/>
          </a:prstGeom>
        </p:spPr>
      </p:pic>
      <p:pic>
        <p:nvPicPr>
          <p:cNvPr id="11" name="Image 9" descr="preencoded.png"/>
          <p:cNvPicPr>
            <a:picLocks noChangeAspect="1"/>
          </p:cNvPicPr>
          <p:nvPr/>
        </p:nvPicPr>
        <p:blipFill>
          <a:blip r:embed="rId8"/>
          <a:stretch>
            <a:fillRect/>
          </a:stretch>
        </p:blipFill>
        <p:spPr>
          <a:xfrm>
            <a:off x="507987" y="507987"/>
            <a:ext cx="507987" cy="507987"/>
          </a:xfrm>
          <a:prstGeom prst="rect">
            <a:avLst/>
          </a:prstGeom>
        </p:spPr>
      </p:pic>
      <p:pic>
        <p:nvPicPr>
          <p:cNvPr id="12" name="Image 10" descr="preencoded.png"/>
          <p:cNvPicPr>
            <a:picLocks noChangeAspect="1"/>
          </p:cNvPicPr>
          <p:nvPr/>
        </p:nvPicPr>
        <p:blipFill>
          <a:blip r:embed="rId9"/>
          <a:stretch>
            <a:fillRect/>
          </a:stretch>
        </p:blipFill>
        <p:spPr>
          <a:xfrm>
            <a:off x="0" y="0"/>
            <a:ext cx="12145975" cy="38099"/>
          </a:xfrm>
          <a:prstGeom prst="rect">
            <a:avLst/>
          </a:prstGeom>
        </p:spPr>
      </p:pic>
      <p:pic>
        <p:nvPicPr>
          <p:cNvPr id="13" name="Image 11" descr="preencoded.png"/>
          <p:cNvPicPr>
            <a:picLocks noChangeAspect="1"/>
          </p:cNvPicPr>
          <p:nvPr/>
        </p:nvPicPr>
        <p:blipFill>
          <a:blip r:embed="rId9"/>
          <a:stretch>
            <a:fillRect/>
          </a:stretch>
        </p:blipFill>
        <p:spPr>
          <a:xfrm>
            <a:off x="0" y="0"/>
            <a:ext cx="12145975" cy="38099"/>
          </a:xfrm>
          <a:prstGeom prst="rect">
            <a:avLst/>
          </a:prstGeom>
        </p:spPr>
      </p:pic>
      <p:pic>
        <p:nvPicPr>
          <p:cNvPr id="14" name="Image 12" descr="https://images.unsplash.com/photo-1574687263812-a27e1c9e11ab?crop=entropy&amp;cs=tinysrgb&amp;fit=max&amp;fm=jpg&amp;ixid=M3w2Njc0MzZ8MHwxfHNlYXJjaHwxfHxUaXRhbmljfGVufDB8fHx8MTc3Mjg1MzA3Nnww&amp;ixlib=rb-4.1.0&amp;q=80&amp;w=1080"/>
          <p:cNvPicPr>
            <a:picLocks noChangeAspect="1"/>
          </p:cNvPicPr>
          <p:nvPr/>
        </p:nvPicPr>
        <p:blipFill>
          <a:blip r:embed="rId10"/>
          <a:srcRect/>
          <a:stretch/>
        </p:blipFill>
        <p:spPr>
          <a:xfrm>
            <a:off x="8381790" y="1269968"/>
            <a:ext cx="3047924" cy="4317892"/>
          </a:xfrm>
          <a:prstGeom prst="rect">
            <a:avLst/>
          </a:prstGeom>
        </p:spPr>
      </p:pic>
      <p:sp>
        <p:nvSpPr>
          <p:cNvPr id="15" name="Text 0"/>
          <p:cNvSpPr/>
          <p:nvPr/>
        </p:nvSpPr>
        <p:spPr>
          <a:xfrm>
            <a:off x="1015975" y="1777956"/>
            <a:ext cx="6984825" cy="1777956"/>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Titanic Survival Analysis Report
</a:t>
            </a:r>
            <a:endParaRPr lang="en-US" sz="2900" dirty="0"/>
          </a:p>
        </p:txBody>
      </p:sp>
      <p:sp>
        <p:nvSpPr>
          <p:cNvPr id="16" name="Text 1"/>
          <p:cNvSpPr/>
          <p:nvPr/>
        </p:nvSpPr>
        <p:spPr>
          <a:xfrm>
            <a:off x="1015975" y="3246805"/>
            <a:ext cx="6349841" cy="2933627"/>
          </a:xfrm>
          <a:prstGeom prst="rect">
            <a:avLst/>
          </a:prstGeom>
          <a:noFill/>
          <a:ln/>
        </p:spPr>
        <p:txBody>
          <a:bodyPr wrap="square" lIns="1016" tIns="1016" rIns="1016" bIns="1016" rtlCol="0" anchor="t"/>
          <a:lstStyle/>
          <a:p>
            <a:pPr marL="0" indent="0" algn="l">
              <a:lnSpc>
                <a:spcPct val="150000"/>
              </a:lnSpc>
              <a:buNone/>
            </a:pPr>
            <a:r>
              <a:rPr lang="en-US" sz="1300" dirty="0">
                <a:solidFill>
                  <a:srgbClr val="B8C5D6"/>
                </a:solidFill>
                <a:latin typeface="Calibri" pitchFamily="34" charset="0"/>
                <a:ea typeface="Calibri" pitchFamily="34" charset="-122"/>
                <a:cs typeface="Calibri" pitchFamily="34" charset="-120"/>
              </a:rPr>
              <a:t>This presentation explores the Titanic dataset, revealing critical insights into passenger survival rates. By analyzing various factors such as gender, age, and class, we uncover trends that shaped survival outcomes. The findings highlight the significant impact of gender on survival, with females exhibiting higher survival rates across all classes. Join us as we delve into the data and uncover the stories behind the statistics, providing a comprehensive understanding of this historical maritime tragedy.
</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Introduction to Titanic Analysis
</a:t>
            </a:r>
            <a:endParaRPr lang="en-US" sz="2900" dirty="0"/>
          </a:p>
        </p:txBody>
      </p:sp>
      <p:sp>
        <p:nvSpPr>
          <p:cNvPr id="7" name="Shape 1"/>
          <p:cNvSpPr/>
          <p:nvPr/>
        </p:nvSpPr>
        <p:spPr>
          <a:xfrm>
            <a:off x="380990" y="1650959"/>
            <a:ext cx="3606710" cy="3492541"/>
          </a:xfrm>
          <a:prstGeom prst="rect">
            <a:avLst/>
          </a:prstGeom>
          <a:noFill/>
          <a:ln/>
        </p:spPr>
        <p:txBody>
          <a:bodyPr/>
          <a:lstStyle/>
          <a:p>
            <a:endParaRPr lang="en-US"/>
          </a:p>
        </p:txBody>
      </p:sp>
      <p:pic>
        <p:nvPicPr>
          <p:cNvPr id="8" name="Image 4" descr="https://images.unsplash.com/photo-1574687263812-a27e1c9e11ab?crop=entropy&amp;cs=tinysrgb&amp;fit=max&amp;fm=jpg&amp;ixid=M3w2Njc0MzZ8MHwxfHNlYXJjaHwxfHxUaXRhbmljfGVufDB8fHx8MTc3Mjg1MzA3Nnww&amp;ixlib=rb-4.1.0&amp;q=80&amp;w=1080"/>
          <p:cNvPicPr>
            <a:picLocks noChangeAspect="1"/>
          </p:cNvPicPr>
          <p:nvPr/>
        </p:nvPicPr>
        <p:blipFill>
          <a:blip r:embed="rId5"/>
          <a:srcRect/>
          <a:stretch/>
        </p:blipFill>
        <p:spPr>
          <a:xfrm>
            <a:off x="380990" y="1650959"/>
            <a:ext cx="3606710" cy="2336742"/>
          </a:xfrm>
          <a:prstGeom prst="rect">
            <a:avLst/>
          </a:prstGeom>
        </p:spPr>
      </p:pic>
      <p:sp>
        <p:nvSpPr>
          <p:cNvPr id="9" name="Text 2"/>
          <p:cNvSpPr/>
          <p:nvPr/>
        </p:nvSpPr>
        <p:spPr>
          <a:xfrm>
            <a:off x="380990"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Exploratory Data Analysis
</a:t>
            </a:r>
            <a:endParaRPr lang="en-US" sz="1300" dirty="0"/>
          </a:p>
        </p:txBody>
      </p:sp>
      <p:sp>
        <p:nvSpPr>
          <p:cNvPr id="10" name="Text 3"/>
          <p:cNvSpPr/>
          <p:nvPr/>
        </p:nvSpPr>
        <p:spPr>
          <a:xfrm>
            <a:off x="380990"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This report presents an exploratory data analysis of the Titanic dataset, aiming to uncover patterns and insights related to passenger survival.
</a:t>
            </a:r>
            <a:endParaRPr lang="en-US" sz="1300" dirty="0"/>
          </a:p>
        </p:txBody>
      </p:sp>
      <p:sp>
        <p:nvSpPr>
          <p:cNvPr id="11" name="Shape 4"/>
          <p:cNvSpPr/>
          <p:nvPr/>
        </p:nvSpPr>
        <p:spPr>
          <a:xfrm>
            <a:off x="4292493" y="1650959"/>
            <a:ext cx="3606710" cy="3492541"/>
          </a:xfrm>
          <a:prstGeom prst="rect">
            <a:avLst/>
          </a:prstGeom>
          <a:noFill/>
          <a:ln/>
        </p:spPr>
        <p:txBody>
          <a:bodyPr/>
          <a:lstStyle/>
          <a:p>
            <a:endParaRPr lang="en-US"/>
          </a:p>
        </p:txBody>
      </p:sp>
      <p:pic>
        <p:nvPicPr>
          <p:cNvPr id="12" name="Image 5" descr="https://images.unsplash.com/photo-1666875753105-c63a6f3bdc86?crop=entropy&amp;cs=tinysrgb&amp;fit=max&amp;fm=jpg&amp;ixid=M3w2Njc0MzZ8MHwxfHNlYXJjaHwxfHxkYXRhJTIwYW5hbHlzaXN8ZW58MHx8fHwxNzcyODE5OTY0fDA&amp;ixlib=rb-4.1.0&amp;q=80&amp;w=1080"/>
          <p:cNvPicPr>
            <a:picLocks noChangeAspect="1"/>
          </p:cNvPicPr>
          <p:nvPr/>
        </p:nvPicPr>
        <p:blipFill>
          <a:blip r:embed="rId6"/>
          <a:srcRect/>
          <a:stretch/>
        </p:blipFill>
        <p:spPr>
          <a:xfrm>
            <a:off x="4292493" y="1650959"/>
            <a:ext cx="3606710" cy="2336742"/>
          </a:xfrm>
          <a:prstGeom prst="rect">
            <a:avLst/>
          </a:prstGeom>
        </p:spPr>
      </p:pic>
      <p:sp>
        <p:nvSpPr>
          <p:cNvPr id="13" name="Text 5"/>
          <p:cNvSpPr/>
          <p:nvPr/>
        </p:nvSpPr>
        <p:spPr>
          <a:xfrm>
            <a:off x="4292493"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Objective of the Study
</a:t>
            </a:r>
            <a:endParaRPr lang="en-US" sz="1300" dirty="0"/>
          </a:p>
        </p:txBody>
      </p:sp>
      <p:sp>
        <p:nvSpPr>
          <p:cNvPr id="14" name="Text 6"/>
          <p:cNvSpPr/>
          <p:nvPr/>
        </p:nvSpPr>
        <p:spPr>
          <a:xfrm>
            <a:off x="4292493"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The primary objective is to understand the factors influencing survival rates among passengers, providing a comprehensive overview of demographics and outcomes.
</a:t>
            </a:r>
            <a:endParaRPr lang="en-US" sz="1300" dirty="0"/>
          </a:p>
        </p:txBody>
      </p:sp>
      <p:sp>
        <p:nvSpPr>
          <p:cNvPr id="15" name="Shape 7"/>
          <p:cNvSpPr/>
          <p:nvPr/>
        </p:nvSpPr>
        <p:spPr>
          <a:xfrm>
            <a:off x="8203995" y="1650959"/>
            <a:ext cx="940005" cy="3492541"/>
          </a:xfrm>
          <a:prstGeom prst="rect">
            <a:avLst/>
          </a:prstGeom>
          <a:noFill/>
          <a:ln/>
        </p:spPr>
        <p:txBody>
          <a:bodyPr/>
          <a:lstStyle/>
          <a:p>
            <a:endParaRPr lang="en-US"/>
          </a:p>
        </p:txBody>
      </p:sp>
      <p:pic>
        <p:nvPicPr>
          <p:cNvPr id="16" name="Image 6" descr="https://images.unsplash.com/photo-1649180556628-9ba704115795?crop=entropy&amp;cs=tinysrgb&amp;fit=max&amp;fm=jpg&amp;ixid=M3w2Njc0MzZ8MHwxfHNlYXJjaHwxfHxQeXRob258ZW58MHx8fHwxNzcyODUzMDc5fDA&amp;ixlib=rb-4.1.0&amp;q=80&amp;w=1080"/>
          <p:cNvPicPr>
            <a:picLocks noChangeAspect="1"/>
          </p:cNvPicPr>
          <p:nvPr/>
        </p:nvPicPr>
        <p:blipFill>
          <a:blip r:embed="rId7"/>
          <a:srcRect/>
          <a:stretch/>
        </p:blipFill>
        <p:spPr>
          <a:xfrm>
            <a:off x="8203995" y="1650959"/>
            <a:ext cx="3606710" cy="2336742"/>
          </a:xfrm>
          <a:prstGeom prst="rect">
            <a:avLst/>
          </a:prstGeom>
        </p:spPr>
      </p:pic>
      <p:sp>
        <p:nvSpPr>
          <p:cNvPr id="17" name="Text 8"/>
          <p:cNvSpPr/>
          <p:nvPr/>
        </p:nvSpPr>
        <p:spPr>
          <a:xfrm>
            <a:off x="8203995"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Dataset Overview
</a:t>
            </a:r>
            <a:endParaRPr lang="en-US" sz="1300" dirty="0"/>
          </a:p>
        </p:txBody>
      </p:sp>
      <p:sp>
        <p:nvSpPr>
          <p:cNvPr id="18" name="Text 9"/>
          <p:cNvSpPr/>
          <p:nvPr/>
        </p:nvSpPr>
        <p:spPr>
          <a:xfrm>
            <a:off x="8203995"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The Titanic dataset includes critical information such as passenger demographics, survival status, and missing values, essential for thorough analysis.
</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Titanic Dataset Overview
</a:t>
            </a:r>
            <a:endParaRPr lang="en-US" sz="2900" dirty="0"/>
          </a:p>
        </p:txBody>
      </p:sp>
      <p:pic>
        <p:nvPicPr>
          <p:cNvPr id="7" name="Image 4" descr="preencoded.png"/>
          <p:cNvPicPr>
            <a:picLocks noChangeAspect="1"/>
          </p:cNvPicPr>
          <p:nvPr/>
        </p:nvPicPr>
        <p:blipFill>
          <a:blip r:embed="rId5"/>
          <a:stretch>
            <a:fillRect/>
          </a:stretch>
        </p:blipFill>
        <p:spPr>
          <a:xfrm>
            <a:off x="761981" y="1976071"/>
            <a:ext cx="571486" cy="444489"/>
          </a:xfrm>
          <a:prstGeom prst="rect">
            <a:avLst/>
          </a:prstGeom>
        </p:spPr>
      </p:pic>
      <p:sp>
        <p:nvSpPr>
          <p:cNvPr id="8" name="Text 1"/>
          <p:cNvSpPr/>
          <p:nvPr/>
        </p:nvSpPr>
        <p:spPr>
          <a:xfrm>
            <a:off x="1587460" y="1925272"/>
            <a:ext cx="9842254" cy="380990"/>
          </a:xfrm>
          <a:prstGeom prst="rect">
            <a:avLst/>
          </a:prstGeom>
          <a:noFill/>
          <a:ln/>
        </p:spPr>
        <p:txBody>
          <a:bodyPr wrap="square" lIns="0" tIns="0" rIns="0" bIns="0" rtlCol="0" anchor="t"/>
          <a:lstStyle/>
          <a:p>
            <a:pPr marL="0" indent="0" algn="l">
              <a:lnSpc>
                <a:spcPct val="120000"/>
              </a:lnSpc>
              <a:buNone/>
            </a:pPr>
            <a:r>
              <a:rPr lang="en-US" sz="1400" b="1" dirty="0">
                <a:solidFill>
                  <a:srgbClr val="00FFFF"/>
                </a:solidFill>
                <a:latin typeface="Calibri" pitchFamily="34" charset="0"/>
                <a:ea typeface="Calibri" pitchFamily="34" charset="-122"/>
                <a:cs typeface="Calibri" pitchFamily="34" charset="-120"/>
              </a:rPr>
              <a:t>DATASET COMPOSITION
</a:t>
            </a:r>
            <a:endParaRPr lang="en-US" sz="1400" dirty="0"/>
          </a:p>
        </p:txBody>
      </p:sp>
      <p:sp>
        <p:nvSpPr>
          <p:cNvPr id="9" name="Text 2"/>
          <p:cNvSpPr/>
          <p:nvPr/>
        </p:nvSpPr>
        <p:spPr>
          <a:xfrm>
            <a:off x="1587460" y="2331662"/>
            <a:ext cx="9842254" cy="814473"/>
          </a:xfrm>
          <a:prstGeom prst="rect">
            <a:avLst/>
          </a:prstGeom>
          <a:noFill/>
          <a:ln/>
        </p:spPr>
        <p:txBody>
          <a:bodyPr wrap="square" lIns="0" tIns="0" rIns="0" bIns="0" rtlCol="0" anchor="t"/>
          <a:lstStyle/>
          <a:p>
            <a:pPr marL="0" indent="0" algn="l">
              <a:lnSpc>
                <a:spcPct val="150000"/>
              </a:lnSpc>
              <a:buNone/>
            </a:pPr>
            <a:r>
              <a:rPr lang="en-US" sz="1300" dirty="0">
                <a:solidFill>
                  <a:srgbClr val="B8C5D6"/>
                </a:solidFill>
                <a:latin typeface="Calibri" pitchFamily="34" charset="0"/>
                <a:ea typeface="Calibri" pitchFamily="34" charset="-122"/>
                <a:cs typeface="Calibri" pitchFamily="34" charset="-120"/>
              </a:rPr>
              <a:t>The Titanic dataset includes 887 passenger records, detailing attributes such as Age, Sex, Cabin, and Embarked, crucial for survival analysis.
</a:t>
            </a:r>
            <a:endParaRPr lang="en-US" sz="1300" dirty="0"/>
          </a:p>
        </p:txBody>
      </p:sp>
      <p:pic>
        <p:nvPicPr>
          <p:cNvPr id="10" name="Image 5" descr="preencoded.png"/>
          <p:cNvPicPr>
            <a:picLocks noChangeAspect="1"/>
          </p:cNvPicPr>
          <p:nvPr/>
        </p:nvPicPr>
        <p:blipFill>
          <a:blip r:embed="rId5"/>
          <a:stretch>
            <a:fillRect/>
          </a:stretch>
        </p:blipFill>
        <p:spPr>
          <a:xfrm>
            <a:off x="761981" y="3450927"/>
            <a:ext cx="571486" cy="444489"/>
          </a:xfrm>
          <a:prstGeom prst="rect">
            <a:avLst/>
          </a:prstGeom>
        </p:spPr>
      </p:pic>
      <p:sp>
        <p:nvSpPr>
          <p:cNvPr id="11" name="Text 3"/>
          <p:cNvSpPr/>
          <p:nvPr/>
        </p:nvSpPr>
        <p:spPr>
          <a:xfrm>
            <a:off x="1587460" y="3400128"/>
            <a:ext cx="9842254" cy="380990"/>
          </a:xfrm>
          <a:prstGeom prst="rect">
            <a:avLst/>
          </a:prstGeom>
          <a:noFill/>
          <a:ln/>
        </p:spPr>
        <p:txBody>
          <a:bodyPr wrap="square" lIns="0" tIns="0" rIns="0" bIns="0" rtlCol="0" anchor="t"/>
          <a:lstStyle/>
          <a:p>
            <a:pPr marL="0" indent="0" algn="l">
              <a:lnSpc>
                <a:spcPct val="120000"/>
              </a:lnSpc>
              <a:buNone/>
            </a:pPr>
            <a:r>
              <a:rPr lang="en-US" sz="1400" b="1" dirty="0">
                <a:solidFill>
                  <a:srgbClr val="00FFFF"/>
                </a:solidFill>
                <a:latin typeface="Calibri" pitchFamily="34" charset="0"/>
                <a:ea typeface="Calibri" pitchFamily="34" charset="-122"/>
                <a:cs typeface="Calibri" pitchFamily="34" charset="-120"/>
              </a:rPr>
              <a:t>MISSING VALUES
</a:t>
            </a:r>
            <a:endParaRPr lang="en-US" sz="1400" dirty="0"/>
          </a:p>
        </p:txBody>
      </p:sp>
      <p:sp>
        <p:nvSpPr>
          <p:cNvPr id="12" name="Text 4"/>
          <p:cNvSpPr/>
          <p:nvPr/>
        </p:nvSpPr>
        <p:spPr>
          <a:xfrm>
            <a:off x="1587460" y="3806518"/>
            <a:ext cx="9842254" cy="814473"/>
          </a:xfrm>
          <a:prstGeom prst="rect">
            <a:avLst/>
          </a:prstGeom>
          <a:noFill/>
          <a:ln/>
        </p:spPr>
        <p:txBody>
          <a:bodyPr wrap="square" lIns="0" tIns="0" rIns="0" bIns="0" rtlCol="0" anchor="t"/>
          <a:lstStyle/>
          <a:p>
            <a:pPr marL="0" indent="0" algn="l">
              <a:lnSpc>
                <a:spcPct val="150000"/>
              </a:lnSpc>
              <a:buNone/>
            </a:pPr>
            <a:r>
              <a:rPr lang="en-US" sz="1300" dirty="0">
                <a:solidFill>
                  <a:srgbClr val="B8C5D6"/>
                </a:solidFill>
                <a:latin typeface="Calibri" pitchFamily="34" charset="0"/>
                <a:ea typeface="Calibri" pitchFamily="34" charset="-122"/>
                <a:cs typeface="Calibri" pitchFamily="34" charset="-120"/>
              </a:rPr>
              <a:t>Key columns have missing data: Age (177), Cabin (687), and Embarked (2), which may impact analysis and require handling strategies.
</a:t>
            </a:r>
            <a:endParaRPr lang="en-US" sz="1300" dirty="0"/>
          </a:p>
        </p:txBody>
      </p:sp>
      <p:pic>
        <p:nvPicPr>
          <p:cNvPr id="13" name="Image 6" descr="preencoded.png"/>
          <p:cNvPicPr>
            <a:picLocks noChangeAspect="1"/>
          </p:cNvPicPr>
          <p:nvPr/>
        </p:nvPicPr>
        <p:blipFill>
          <a:blip r:embed="rId6"/>
          <a:stretch>
            <a:fillRect/>
          </a:stretch>
        </p:blipFill>
        <p:spPr>
          <a:xfrm>
            <a:off x="761981" y="4925784"/>
            <a:ext cx="571486" cy="444489"/>
          </a:xfrm>
          <a:prstGeom prst="rect">
            <a:avLst/>
          </a:prstGeom>
        </p:spPr>
      </p:pic>
      <p:sp>
        <p:nvSpPr>
          <p:cNvPr id="14" name="Text 5"/>
          <p:cNvSpPr/>
          <p:nvPr/>
        </p:nvSpPr>
        <p:spPr>
          <a:xfrm>
            <a:off x="1587460" y="4874985"/>
            <a:ext cx="9842254" cy="380990"/>
          </a:xfrm>
          <a:prstGeom prst="rect">
            <a:avLst/>
          </a:prstGeom>
          <a:noFill/>
          <a:ln/>
        </p:spPr>
        <p:txBody>
          <a:bodyPr wrap="square" lIns="0" tIns="0" rIns="0" bIns="0" rtlCol="0" anchor="t"/>
          <a:lstStyle/>
          <a:p>
            <a:pPr marL="0" indent="0" algn="l">
              <a:lnSpc>
                <a:spcPct val="120000"/>
              </a:lnSpc>
              <a:buNone/>
            </a:pPr>
            <a:r>
              <a:rPr lang="en-US" sz="1400" b="1" dirty="0">
                <a:solidFill>
                  <a:srgbClr val="8B5CF6"/>
                </a:solidFill>
                <a:latin typeface="Calibri" pitchFamily="34" charset="0"/>
                <a:ea typeface="Calibri" pitchFamily="34" charset="-122"/>
                <a:cs typeface="Calibri" pitchFamily="34" charset="-120"/>
              </a:rPr>
              <a:t>SURVIVAL RATES INSIGHTS
</a:t>
            </a:r>
            <a:endParaRPr lang="en-US" sz="1400" dirty="0"/>
          </a:p>
        </p:txBody>
      </p:sp>
      <p:sp>
        <p:nvSpPr>
          <p:cNvPr id="15" name="Text 6"/>
          <p:cNvSpPr/>
          <p:nvPr/>
        </p:nvSpPr>
        <p:spPr>
          <a:xfrm>
            <a:off x="1587460" y="5281375"/>
            <a:ext cx="9842254" cy="1066773"/>
          </a:xfrm>
          <a:prstGeom prst="rect">
            <a:avLst/>
          </a:prstGeom>
          <a:noFill/>
          <a:ln/>
        </p:spPr>
        <p:txBody>
          <a:bodyPr wrap="square" lIns="0" tIns="0" rIns="0" bIns="0" rtlCol="0" anchor="t"/>
          <a:lstStyle/>
          <a:p>
            <a:pPr marL="0" indent="0" algn="l">
              <a:lnSpc>
                <a:spcPct val="150000"/>
              </a:lnSpc>
              <a:buNone/>
            </a:pPr>
            <a:r>
              <a:rPr lang="en-US" sz="1300" dirty="0">
                <a:solidFill>
                  <a:srgbClr val="B8C5D6"/>
                </a:solidFill>
                <a:latin typeface="Calibri" pitchFamily="34" charset="0"/>
                <a:ea typeface="Calibri" pitchFamily="34" charset="-122"/>
                <a:cs typeface="Calibri" pitchFamily="34" charset="-120"/>
              </a:rPr>
              <a:t>Analysis shows that female passengers had significantly higher survival rates than males across all classes, highlighting demographic influences on survival.
</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Methodology Overview
</a:t>
            </a:r>
            <a:endParaRPr lang="en-US" sz="2900" dirty="0"/>
          </a:p>
        </p:txBody>
      </p:sp>
      <p:sp>
        <p:nvSpPr>
          <p:cNvPr id="7" name="Shape 1"/>
          <p:cNvSpPr/>
          <p:nvPr/>
        </p:nvSpPr>
        <p:spPr>
          <a:xfrm>
            <a:off x="761981" y="1854154"/>
            <a:ext cx="152396" cy="152396"/>
          </a:xfrm>
          <a:prstGeom prst="ellipse">
            <a:avLst/>
          </a:prstGeom>
          <a:solidFill>
            <a:srgbClr val="00FFFF"/>
          </a:solidFill>
          <a:ln/>
        </p:spPr>
        <p:txBody>
          <a:bodyPr/>
          <a:lstStyle/>
          <a:p>
            <a:endParaRPr lang="en-US"/>
          </a:p>
        </p:txBody>
      </p:sp>
      <p:sp>
        <p:nvSpPr>
          <p:cNvPr id="8" name="Text 2"/>
          <p:cNvSpPr/>
          <p:nvPr/>
        </p:nvSpPr>
        <p:spPr>
          <a:xfrm>
            <a:off x="1041374" y="1904952"/>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Exploratory Data Analysis (EDA)
</a:t>
            </a:r>
            <a:endParaRPr lang="en-US" sz="1400" dirty="0"/>
          </a:p>
        </p:txBody>
      </p:sp>
      <p:sp>
        <p:nvSpPr>
          <p:cNvPr id="9" name="Text 3"/>
          <p:cNvSpPr/>
          <p:nvPr/>
        </p:nvSpPr>
        <p:spPr>
          <a:xfrm>
            <a:off x="1041374" y="2666933"/>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The analysis utilized EDA techniques to uncover patterns and insights within the Titanic dataset, focusing on survival rates and demographic factors.
</a:t>
            </a:r>
            <a:endParaRPr lang="en-US" sz="1300" dirty="0"/>
          </a:p>
        </p:txBody>
      </p:sp>
      <p:sp>
        <p:nvSpPr>
          <p:cNvPr id="10" name="Shape 4"/>
          <p:cNvSpPr/>
          <p:nvPr/>
        </p:nvSpPr>
        <p:spPr>
          <a:xfrm>
            <a:off x="5587860" y="1854154"/>
            <a:ext cx="152396" cy="152396"/>
          </a:xfrm>
          <a:prstGeom prst="ellipse">
            <a:avLst/>
          </a:prstGeom>
          <a:solidFill>
            <a:srgbClr val="00FFFF"/>
          </a:solidFill>
          <a:ln/>
        </p:spPr>
        <p:txBody>
          <a:bodyPr/>
          <a:lstStyle/>
          <a:p>
            <a:endParaRPr lang="en-US"/>
          </a:p>
        </p:txBody>
      </p:sp>
      <p:sp>
        <p:nvSpPr>
          <p:cNvPr id="11" name="Text 5"/>
          <p:cNvSpPr/>
          <p:nvPr/>
        </p:nvSpPr>
        <p:spPr>
          <a:xfrm>
            <a:off x="5867253" y="1904952"/>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Python Libraries Used
</a:t>
            </a:r>
            <a:endParaRPr lang="en-US" sz="1400" dirty="0"/>
          </a:p>
        </p:txBody>
      </p:sp>
      <p:sp>
        <p:nvSpPr>
          <p:cNvPr id="12" name="Text 6"/>
          <p:cNvSpPr/>
          <p:nvPr/>
        </p:nvSpPr>
        <p:spPr>
          <a:xfrm>
            <a:off x="5867253" y="2666933"/>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Key Python libraries such as Pandas for data manipulation, Matplotlib for plotting, and Seaborn for statistical visualizations were employed throughout the analysis.
</a:t>
            </a:r>
            <a:endParaRPr lang="en-US" sz="1300" dirty="0"/>
          </a:p>
        </p:txBody>
      </p:sp>
      <p:sp>
        <p:nvSpPr>
          <p:cNvPr id="13" name="Shape 7"/>
          <p:cNvSpPr/>
          <p:nvPr/>
        </p:nvSpPr>
        <p:spPr>
          <a:xfrm>
            <a:off x="761981" y="4140096"/>
            <a:ext cx="152396" cy="152396"/>
          </a:xfrm>
          <a:prstGeom prst="ellipse">
            <a:avLst/>
          </a:prstGeom>
          <a:solidFill>
            <a:srgbClr val="00FFFF"/>
          </a:solidFill>
          <a:ln/>
        </p:spPr>
        <p:txBody>
          <a:bodyPr/>
          <a:lstStyle/>
          <a:p>
            <a:endParaRPr lang="en-US"/>
          </a:p>
        </p:txBody>
      </p:sp>
      <p:sp>
        <p:nvSpPr>
          <p:cNvPr id="14" name="Text 8"/>
          <p:cNvSpPr/>
          <p:nvPr/>
        </p:nvSpPr>
        <p:spPr>
          <a:xfrm>
            <a:off x="1041374" y="4190895"/>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Data Cleaning Steps
</a:t>
            </a:r>
            <a:endParaRPr lang="en-US" sz="1400" dirty="0"/>
          </a:p>
        </p:txBody>
      </p:sp>
      <p:sp>
        <p:nvSpPr>
          <p:cNvPr id="15" name="Text 9"/>
          <p:cNvSpPr/>
          <p:nvPr/>
        </p:nvSpPr>
        <p:spPr>
          <a:xfrm>
            <a:off x="1041374" y="4952876"/>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Data cleaning involved handling missing values, with 177 in Age, 687 in Cabin, and 2 in Embarked, ensuring a robust dataset for analysis.
</a:t>
            </a:r>
            <a:endParaRPr lang="en-US" sz="1300" dirty="0"/>
          </a:p>
        </p:txBody>
      </p:sp>
      <p:sp>
        <p:nvSpPr>
          <p:cNvPr id="16" name="Shape 10"/>
          <p:cNvSpPr/>
          <p:nvPr/>
        </p:nvSpPr>
        <p:spPr>
          <a:xfrm>
            <a:off x="5587860" y="4140096"/>
            <a:ext cx="152396" cy="152396"/>
          </a:xfrm>
          <a:prstGeom prst="ellipse">
            <a:avLst/>
          </a:prstGeom>
          <a:solidFill>
            <a:srgbClr val="00FFFF"/>
          </a:solidFill>
          <a:ln/>
        </p:spPr>
        <p:txBody>
          <a:bodyPr/>
          <a:lstStyle/>
          <a:p>
            <a:endParaRPr lang="en-US"/>
          </a:p>
        </p:txBody>
      </p:sp>
      <p:sp>
        <p:nvSpPr>
          <p:cNvPr id="17" name="Text 11"/>
          <p:cNvSpPr/>
          <p:nvPr/>
        </p:nvSpPr>
        <p:spPr>
          <a:xfrm>
            <a:off x="5867253" y="4190895"/>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Visualizations Created
</a:t>
            </a:r>
            <a:endParaRPr lang="en-US" sz="1400" dirty="0"/>
          </a:p>
        </p:txBody>
      </p:sp>
      <p:sp>
        <p:nvSpPr>
          <p:cNvPr id="18" name="Text 12"/>
          <p:cNvSpPr/>
          <p:nvPr/>
        </p:nvSpPr>
        <p:spPr>
          <a:xfrm>
            <a:off x="5867253" y="4952876"/>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Various visualizations were generated to illustrate findings, including survival rates by gender and class, enhancing understanding of the data.
</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Handling Missing Values
</a:t>
            </a:r>
            <a:endParaRPr lang="en-US" sz="2900" dirty="0"/>
          </a:p>
        </p:txBody>
      </p:sp>
      <p:sp>
        <p:nvSpPr>
          <p:cNvPr id="7" name="Text 1"/>
          <p:cNvSpPr/>
          <p:nvPr/>
        </p:nvSpPr>
        <p:spPr>
          <a:xfrm>
            <a:off x="761981" y="1925272"/>
            <a:ext cx="3284985" cy="698483"/>
          </a:xfrm>
          <a:prstGeom prst="rect">
            <a:avLst/>
          </a:prstGeom>
          <a:noFill/>
          <a:ln/>
        </p:spPr>
        <p:txBody>
          <a:bodyPr wrap="square" lIns="0" tIns="0" rIns="0" bIns="0" rtlCol="0" anchor="t"/>
          <a:lstStyle/>
          <a:p>
            <a:pPr marL="0" indent="0" algn="l">
              <a:lnSpc>
                <a:spcPct val="120000"/>
              </a:lnSpc>
              <a:buNone/>
            </a:pPr>
            <a:r>
              <a:rPr lang="en-US" sz="1400" b="1" dirty="0">
                <a:solidFill>
                  <a:srgbClr val="00FFFF"/>
                </a:solidFill>
                <a:latin typeface="Calibri" pitchFamily="34" charset="0"/>
                <a:ea typeface="Calibri" pitchFamily="34" charset="-122"/>
                <a:cs typeface="Calibri" pitchFamily="34" charset="-120"/>
              </a:rPr>
              <a:t>Missing Data Overview
</a:t>
            </a:r>
            <a:endParaRPr lang="en-US" sz="1400" dirty="0"/>
          </a:p>
        </p:txBody>
      </p:sp>
      <p:sp>
        <p:nvSpPr>
          <p:cNvPr id="8" name="Text 2"/>
          <p:cNvSpPr/>
          <p:nvPr/>
        </p:nvSpPr>
        <p:spPr>
          <a:xfrm>
            <a:off x="761981" y="2877748"/>
            <a:ext cx="3284985" cy="1269968"/>
          </a:xfrm>
          <a:prstGeom prst="rect">
            <a:avLst/>
          </a:prstGeom>
          <a:noFill/>
          <a:ln/>
        </p:spPr>
        <p:txBody>
          <a:bodyPr wrap="square" lIns="0" tIns="0" rIns="0" bIns="0" rtlCol="0" anchor="t"/>
          <a:lstStyle/>
          <a:p>
            <a:pPr marL="0" indent="0" algn="l">
              <a:lnSpc>
                <a:spcPct val="160000"/>
              </a:lnSpc>
              <a:buNone/>
            </a:pPr>
            <a:r>
              <a:rPr lang="en-US" sz="1300" dirty="0">
                <a:solidFill>
                  <a:srgbClr val="B8C5D6"/>
                </a:solidFill>
                <a:latin typeface="Calibri" pitchFamily="34" charset="0"/>
                <a:ea typeface="Calibri" pitchFamily="34" charset="-122"/>
                <a:cs typeface="Calibri" pitchFamily="34" charset="-120"/>
              </a:rPr>
              <a:t>The Titanic dataset has significant missing values: 177 in Age, 687 in Cabin, and 2 in Embarked, impacting analysis accuracy.
</a:t>
            </a:r>
            <a:endParaRPr lang="en-US" sz="1300" dirty="0"/>
          </a:p>
        </p:txBody>
      </p:sp>
      <p:sp>
        <p:nvSpPr>
          <p:cNvPr id="9" name="Shape 3"/>
          <p:cNvSpPr/>
          <p:nvPr/>
        </p:nvSpPr>
        <p:spPr>
          <a:xfrm>
            <a:off x="761981" y="4782700"/>
            <a:ext cx="1015975" cy="76198"/>
          </a:xfrm>
          <a:prstGeom prst="rect">
            <a:avLst/>
          </a:prstGeom>
          <a:solidFill>
            <a:srgbClr val="00FFFF"/>
          </a:solidFill>
          <a:ln/>
        </p:spPr>
        <p:txBody>
          <a:bodyPr/>
          <a:lstStyle/>
          <a:p>
            <a:endParaRPr lang="en-US"/>
          </a:p>
        </p:txBody>
      </p:sp>
      <p:sp>
        <p:nvSpPr>
          <p:cNvPr id="10" name="Text 4"/>
          <p:cNvSpPr/>
          <p:nvPr/>
        </p:nvSpPr>
        <p:spPr>
          <a:xfrm>
            <a:off x="4453355" y="1925272"/>
            <a:ext cx="3284985" cy="698483"/>
          </a:xfrm>
          <a:prstGeom prst="rect">
            <a:avLst/>
          </a:prstGeom>
          <a:noFill/>
          <a:ln/>
        </p:spPr>
        <p:txBody>
          <a:bodyPr wrap="square" lIns="0" tIns="0" rIns="0" bIns="0" rtlCol="0" anchor="t"/>
          <a:lstStyle/>
          <a:p>
            <a:pPr marL="0" indent="0" algn="l">
              <a:lnSpc>
                <a:spcPct val="120000"/>
              </a:lnSpc>
              <a:buNone/>
            </a:pPr>
            <a:r>
              <a:rPr lang="en-US" sz="1400" b="1" dirty="0">
                <a:solidFill>
                  <a:srgbClr val="00FFFF"/>
                </a:solidFill>
                <a:latin typeface="Calibri" pitchFamily="34" charset="0"/>
                <a:ea typeface="Calibri" pitchFamily="34" charset="-122"/>
                <a:cs typeface="Calibri" pitchFamily="34" charset="-120"/>
              </a:rPr>
              <a:t>Imputation Techniques
</a:t>
            </a:r>
            <a:endParaRPr lang="en-US" sz="1400" dirty="0"/>
          </a:p>
        </p:txBody>
      </p:sp>
      <p:sp>
        <p:nvSpPr>
          <p:cNvPr id="11" name="Text 5"/>
          <p:cNvSpPr/>
          <p:nvPr/>
        </p:nvSpPr>
        <p:spPr>
          <a:xfrm>
            <a:off x="4453355" y="2877748"/>
            <a:ext cx="3284985" cy="1269968"/>
          </a:xfrm>
          <a:prstGeom prst="rect">
            <a:avLst/>
          </a:prstGeom>
          <a:noFill/>
          <a:ln/>
        </p:spPr>
        <p:txBody>
          <a:bodyPr wrap="square" lIns="0" tIns="0" rIns="0" bIns="0" rtlCol="0" anchor="t"/>
          <a:lstStyle/>
          <a:p>
            <a:pPr marL="0" indent="0" algn="l">
              <a:lnSpc>
                <a:spcPct val="160000"/>
              </a:lnSpc>
              <a:buNone/>
            </a:pPr>
            <a:r>
              <a:rPr lang="en-US" sz="1300" dirty="0">
                <a:solidFill>
                  <a:srgbClr val="B8C5D6"/>
                </a:solidFill>
                <a:latin typeface="Calibri" pitchFamily="34" charset="0"/>
                <a:ea typeface="Calibri" pitchFamily="34" charset="-122"/>
                <a:cs typeface="Calibri" pitchFamily="34" charset="-120"/>
              </a:rPr>
              <a:t>Various imputation techniques were applied, including mean substitution for Age and mode for Embarked, to enhance data completeness.
</a:t>
            </a:r>
            <a:endParaRPr lang="en-US" sz="1300" dirty="0"/>
          </a:p>
        </p:txBody>
      </p:sp>
      <p:sp>
        <p:nvSpPr>
          <p:cNvPr id="12" name="Shape 6"/>
          <p:cNvSpPr/>
          <p:nvPr/>
        </p:nvSpPr>
        <p:spPr>
          <a:xfrm>
            <a:off x="4453355" y="4782700"/>
            <a:ext cx="1015975" cy="76198"/>
          </a:xfrm>
          <a:prstGeom prst="rect">
            <a:avLst/>
          </a:prstGeom>
          <a:solidFill>
            <a:srgbClr val="8B5CF6"/>
          </a:solidFill>
          <a:ln/>
        </p:spPr>
        <p:txBody>
          <a:bodyPr/>
          <a:lstStyle/>
          <a:p>
            <a:endParaRPr lang="en-US"/>
          </a:p>
        </p:txBody>
      </p:sp>
      <p:sp>
        <p:nvSpPr>
          <p:cNvPr id="13" name="Text 7"/>
          <p:cNvSpPr/>
          <p:nvPr/>
        </p:nvSpPr>
        <p:spPr>
          <a:xfrm>
            <a:off x="8144730" y="1925272"/>
            <a:ext cx="3284985" cy="698483"/>
          </a:xfrm>
          <a:prstGeom prst="rect">
            <a:avLst/>
          </a:prstGeom>
          <a:noFill/>
          <a:ln/>
        </p:spPr>
        <p:txBody>
          <a:bodyPr wrap="square" lIns="0" tIns="0" rIns="0" bIns="0" rtlCol="0" anchor="t"/>
          <a:lstStyle/>
          <a:p>
            <a:pPr marL="0" indent="0" algn="l">
              <a:lnSpc>
                <a:spcPct val="120000"/>
              </a:lnSpc>
              <a:buNone/>
            </a:pPr>
            <a:r>
              <a:rPr lang="en-US" sz="1400" b="1" dirty="0">
                <a:solidFill>
                  <a:srgbClr val="00FFFF"/>
                </a:solidFill>
                <a:latin typeface="Calibri" pitchFamily="34" charset="0"/>
                <a:ea typeface="Calibri" pitchFamily="34" charset="-122"/>
                <a:cs typeface="Calibri" pitchFamily="34" charset="-120"/>
              </a:rPr>
              <a:t>Impact on Analysis
</a:t>
            </a:r>
            <a:endParaRPr lang="en-US" sz="1400" dirty="0"/>
          </a:p>
        </p:txBody>
      </p:sp>
      <p:sp>
        <p:nvSpPr>
          <p:cNvPr id="14" name="Text 8"/>
          <p:cNvSpPr/>
          <p:nvPr/>
        </p:nvSpPr>
        <p:spPr>
          <a:xfrm>
            <a:off x="8144730" y="2877748"/>
            <a:ext cx="3284985" cy="1269968"/>
          </a:xfrm>
          <a:prstGeom prst="rect">
            <a:avLst/>
          </a:prstGeom>
          <a:noFill/>
          <a:ln/>
        </p:spPr>
        <p:txBody>
          <a:bodyPr wrap="square" lIns="0" tIns="0" rIns="0" bIns="0" rtlCol="0" anchor="t"/>
          <a:lstStyle/>
          <a:p>
            <a:pPr marL="0" indent="0" algn="l">
              <a:lnSpc>
                <a:spcPct val="160000"/>
              </a:lnSpc>
              <a:buNone/>
            </a:pPr>
            <a:r>
              <a:rPr lang="en-US" sz="1300" dirty="0">
                <a:solidFill>
                  <a:srgbClr val="B8C5D6"/>
                </a:solidFill>
                <a:latin typeface="Calibri" pitchFamily="34" charset="0"/>
                <a:ea typeface="Calibri" pitchFamily="34" charset="-122"/>
                <a:cs typeface="Calibri" pitchFamily="34" charset="-120"/>
              </a:rPr>
              <a:t>Addressing missing values improved the dataset's integrity, allowing for more reliable insights into survival factors among passengers.
</a:t>
            </a:r>
            <a:endParaRPr lang="en-US" sz="1300" dirty="0"/>
          </a:p>
        </p:txBody>
      </p:sp>
      <p:sp>
        <p:nvSpPr>
          <p:cNvPr id="15" name="Shape 9"/>
          <p:cNvSpPr/>
          <p:nvPr/>
        </p:nvSpPr>
        <p:spPr>
          <a:xfrm>
            <a:off x="8144730" y="4782700"/>
            <a:ext cx="999270" cy="76198"/>
          </a:xfrm>
          <a:prstGeom prst="rect">
            <a:avLst/>
          </a:prstGeom>
          <a:solidFill>
            <a:srgbClr val="00FFFF"/>
          </a:solidFill>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Key Insights from Analysis
</a:t>
            </a:r>
            <a:endParaRPr lang="en-US" sz="2900" dirty="0"/>
          </a:p>
        </p:txBody>
      </p:sp>
      <p:sp>
        <p:nvSpPr>
          <p:cNvPr id="7" name="Shape 1"/>
          <p:cNvSpPr/>
          <p:nvPr/>
        </p:nvSpPr>
        <p:spPr>
          <a:xfrm>
            <a:off x="761981" y="1861773"/>
            <a:ext cx="3276518" cy="3281727"/>
          </a:xfrm>
          <a:prstGeom prst="rect">
            <a:avLst/>
          </a:prstGeom>
          <a:noFill/>
          <a:ln/>
        </p:spPr>
        <p:txBody>
          <a:bodyPr/>
          <a:lstStyle/>
          <a:p>
            <a:endParaRPr lang="en-US"/>
          </a:p>
        </p:txBody>
      </p:sp>
      <p:sp>
        <p:nvSpPr>
          <p:cNvPr id="8" name="Text 2"/>
          <p:cNvSpPr/>
          <p:nvPr/>
        </p:nvSpPr>
        <p:spPr>
          <a:xfrm>
            <a:off x="3327317" y="2014170"/>
            <a:ext cx="609585" cy="444489"/>
          </a:xfrm>
          <a:prstGeom prst="rect">
            <a:avLst/>
          </a:prstGeom>
          <a:noFill/>
          <a:ln/>
        </p:spPr>
        <p:txBody>
          <a:bodyPr wrap="square" lIns="1016" tIns="1016" rIns="1016" bIns="1016" rtlCol="0" anchor="t"/>
          <a:lstStyle/>
          <a:p>
            <a:pPr marL="0" indent="0" algn="r">
              <a:lnSpc>
                <a:spcPct val="100000"/>
              </a:lnSpc>
              <a:buNone/>
            </a:pPr>
            <a:r>
              <a:rPr lang="en-US" sz="2500" dirty="0">
                <a:solidFill>
                  <a:srgbClr val="00FFFF"/>
                </a:solidFill>
                <a:latin typeface="Calibri" pitchFamily="34" charset="0"/>
                <a:ea typeface="Calibri" pitchFamily="34" charset="-122"/>
                <a:cs typeface="Calibri" pitchFamily="34" charset="-120"/>
              </a:rPr>
              <a:t>1
</a:t>
            </a:r>
            <a:endParaRPr lang="en-US" sz="2500" dirty="0"/>
          </a:p>
        </p:txBody>
      </p:sp>
      <p:sp>
        <p:nvSpPr>
          <p:cNvPr id="9" name="Text 3"/>
          <p:cNvSpPr/>
          <p:nvPr/>
        </p:nvSpPr>
        <p:spPr>
          <a:xfrm>
            <a:off x="1066773" y="2687253"/>
            <a:ext cx="2666933" cy="1015975"/>
          </a:xfrm>
          <a:prstGeom prst="rect">
            <a:avLst/>
          </a:prstGeom>
          <a:noFill/>
          <a:ln/>
        </p:spPr>
        <p:txBody>
          <a:bodyPr wrap="square" lIns="1016" tIns="1016" rIns="1016" bIns="1016" rtlCol="0" anchor="t"/>
          <a:lstStyle/>
          <a:p>
            <a:pPr marL="0" indent="0" algn="l">
              <a:lnSpc>
                <a:spcPct val="125000"/>
              </a:lnSpc>
              <a:buNone/>
            </a:pPr>
            <a:r>
              <a:rPr lang="en-US" sz="1400" b="1" dirty="0">
                <a:solidFill>
                  <a:srgbClr val="00FFFF"/>
                </a:solidFill>
                <a:latin typeface="Calibri" pitchFamily="34" charset="0"/>
                <a:ea typeface="Calibri" pitchFamily="34" charset="-122"/>
                <a:cs typeface="Calibri" pitchFamily="34" charset="-120"/>
              </a:rPr>
              <a:t>Higher Survival Rates for Females
</a:t>
            </a:r>
            <a:endParaRPr lang="en-US" sz="1400" dirty="0"/>
          </a:p>
        </p:txBody>
      </p:sp>
      <p:sp>
        <p:nvSpPr>
          <p:cNvPr id="10" name="Text 4"/>
          <p:cNvSpPr/>
          <p:nvPr/>
        </p:nvSpPr>
        <p:spPr>
          <a:xfrm>
            <a:off x="1066773" y="3639729"/>
            <a:ext cx="2666933" cy="1996390"/>
          </a:xfrm>
          <a:prstGeom prst="rect">
            <a:avLst/>
          </a:prstGeom>
          <a:noFill/>
          <a:ln/>
        </p:spPr>
        <p:txBody>
          <a:bodyPr wrap="square" lIns="1016" tIns="1016" rIns="1016" bIns="1016" rtlCol="0" anchor="t"/>
          <a:lstStyle/>
          <a:p>
            <a:pPr marL="0" indent="0" algn="l">
              <a:lnSpc>
                <a:spcPct val="140000"/>
              </a:lnSpc>
              <a:buNone/>
            </a:pPr>
            <a:r>
              <a:rPr lang="en-US" sz="1300" dirty="0">
                <a:solidFill>
                  <a:srgbClr val="B8C5D6"/>
                </a:solidFill>
                <a:latin typeface="Calibri" pitchFamily="34" charset="0"/>
                <a:ea typeface="Calibri" pitchFamily="34" charset="-122"/>
                <a:cs typeface="Calibri" pitchFamily="34" charset="-120"/>
              </a:rPr>
              <a:t>Female passengers had significantly higher survival rates, with approximately 74% surviving compared to only 20% of male passengers across all classes.
</a:t>
            </a:r>
            <a:endParaRPr lang="en-US" sz="1300" dirty="0"/>
          </a:p>
        </p:txBody>
      </p:sp>
      <p:sp>
        <p:nvSpPr>
          <p:cNvPr id="11" name="Shape 5"/>
          <p:cNvSpPr/>
          <p:nvPr/>
        </p:nvSpPr>
        <p:spPr>
          <a:xfrm>
            <a:off x="4457589" y="1861773"/>
            <a:ext cx="3276518" cy="3281727"/>
          </a:xfrm>
          <a:prstGeom prst="rect">
            <a:avLst/>
          </a:prstGeom>
          <a:noFill/>
          <a:ln/>
        </p:spPr>
        <p:txBody>
          <a:bodyPr/>
          <a:lstStyle/>
          <a:p>
            <a:endParaRPr lang="en-US"/>
          </a:p>
        </p:txBody>
      </p:sp>
      <p:sp>
        <p:nvSpPr>
          <p:cNvPr id="12" name="Text 6"/>
          <p:cNvSpPr/>
          <p:nvPr/>
        </p:nvSpPr>
        <p:spPr>
          <a:xfrm>
            <a:off x="7022924" y="2014170"/>
            <a:ext cx="609585" cy="444489"/>
          </a:xfrm>
          <a:prstGeom prst="rect">
            <a:avLst/>
          </a:prstGeom>
          <a:noFill/>
          <a:ln/>
        </p:spPr>
        <p:txBody>
          <a:bodyPr wrap="square" lIns="1016" tIns="1016" rIns="1016" bIns="1016" rtlCol="0" anchor="t"/>
          <a:lstStyle/>
          <a:p>
            <a:pPr marL="0" indent="0" algn="r">
              <a:lnSpc>
                <a:spcPct val="100000"/>
              </a:lnSpc>
              <a:buNone/>
            </a:pPr>
            <a:r>
              <a:rPr lang="en-US" sz="2500" dirty="0">
                <a:solidFill>
                  <a:srgbClr val="00FFFF"/>
                </a:solidFill>
                <a:latin typeface="Calibri" pitchFamily="34" charset="0"/>
                <a:ea typeface="Calibri" pitchFamily="34" charset="-122"/>
                <a:cs typeface="Calibri" pitchFamily="34" charset="-120"/>
              </a:rPr>
              <a:t>2
</a:t>
            </a:r>
            <a:endParaRPr lang="en-US" sz="2500" dirty="0"/>
          </a:p>
        </p:txBody>
      </p:sp>
      <p:sp>
        <p:nvSpPr>
          <p:cNvPr id="13" name="Text 7"/>
          <p:cNvSpPr/>
          <p:nvPr/>
        </p:nvSpPr>
        <p:spPr>
          <a:xfrm>
            <a:off x="4762381" y="2687253"/>
            <a:ext cx="2666933" cy="1015975"/>
          </a:xfrm>
          <a:prstGeom prst="rect">
            <a:avLst/>
          </a:prstGeom>
          <a:noFill/>
          <a:ln/>
        </p:spPr>
        <p:txBody>
          <a:bodyPr wrap="square" lIns="1016" tIns="1016" rIns="1016" bIns="1016" rtlCol="0" anchor="t"/>
          <a:lstStyle/>
          <a:p>
            <a:pPr marL="0" indent="0" algn="l">
              <a:lnSpc>
                <a:spcPct val="125000"/>
              </a:lnSpc>
              <a:buNone/>
            </a:pPr>
            <a:r>
              <a:rPr lang="en-US" sz="1400" b="1" dirty="0">
                <a:solidFill>
                  <a:srgbClr val="00FFFF"/>
                </a:solidFill>
                <a:latin typeface="Calibri" pitchFamily="34" charset="0"/>
                <a:ea typeface="Calibri" pitchFamily="34" charset="-122"/>
                <a:cs typeface="Calibri" pitchFamily="34" charset="-120"/>
              </a:rPr>
              <a:t>Survival by Passenger Class
</a:t>
            </a:r>
            <a:endParaRPr lang="en-US" sz="1400" dirty="0"/>
          </a:p>
        </p:txBody>
      </p:sp>
      <p:sp>
        <p:nvSpPr>
          <p:cNvPr id="14" name="Text 8"/>
          <p:cNvSpPr/>
          <p:nvPr/>
        </p:nvSpPr>
        <p:spPr>
          <a:xfrm>
            <a:off x="4762381" y="3639729"/>
            <a:ext cx="2666933" cy="1747476"/>
          </a:xfrm>
          <a:prstGeom prst="rect">
            <a:avLst/>
          </a:prstGeom>
          <a:noFill/>
          <a:ln/>
        </p:spPr>
        <p:txBody>
          <a:bodyPr wrap="square" lIns="1016" tIns="1016" rIns="1016" bIns="1016" rtlCol="0" anchor="t"/>
          <a:lstStyle/>
          <a:p>
            <a:pPr marL="0" indent="0" algn="l">
              <a:lnSpc>
                <a:spcPct val="140000"/>
              </a:lnSpc>
              <a:buNone/>
            </a:pPr>
            <a:r>
              <a:rPr lang="en-US" sz="1300" dirty="0">
                <a:solidFill>
                  <a:srgbClr val="B8C5D6"/>
                </a:solidFill>
                <a:latin typeface="Calibri" pitchFamily="34" charset="0"/>
                <a:ea typeface="Calibri" pitchFamily="34" charset="-122"/>
                <a:cs typeface="Calibri" pitchFamily="34" charset="-120"/>
              </a:rPr>
              <a:t>Survival rates varied greatly by class: first-class passengers had a survival rate of 62%, while third-class passengers had only 25%.
</a:t>
            </a:r>
            <a:endParaRPr lang="en-US" sz="1300" dirty="0"/>
          </a:p>
        </p:txBody>
      </p:sp>
      <p:sp>
        <p:nvSpPr>
          <p:cNvPr id="15" name="Shape 9"/>
          <p:cNvSpPr/>
          <p:nvPr/>
        </p:nvSpPr>
        <p:spPr>
          <a:xfrm>
            <a:off x="8153196" y="1861773"/>
            <a:ext cx="990804" cy="3281727"/>
          </a:xfrm>
          <a:prstGeom prst="rect">
            <a:avLst/>
          </a:prstGeom>
          <a:noFill/>
          <a:ln/>
        </p:spPr>
        <p:txBody>
          <a:bodyPr/>
          <a:lstStyle/>
          <a:p>
            <a:endParaRPr lang="en-US"/>
          </a:p>
        </p:txBody>
      </p:sp>
      <p:sp>
        <p:nvSpPr>
          <p:cNvPr id="16" name="Text 10"/>
          <p:cNvSpPr/>
          <p:nvPr/>
        </p:nvSpPr>
        <p:spPr>
          <a:xfrm>
            <a:off x="10718532" y="2014170"/>
            <a:ext cx="609585" cy="444489"/>
          </a:xfrm>
          <a:prstGeom prst="rect">
            <a:avLst/>
          </a:prstGeom>
          <a:noFill/>
          <a:ln/>
        </p:spPr>
        <p:txBody>
          <a:bodyPr wrap="square" lIns="1016" tIns="1016" rIns="1016" bIns="1016" rtlCol="0" anchor="t"/>
          <a:lstStyle/>
          <a:p>
            <a:pPr marL="0" indent="0" algn="r">
              <a:lnSpc>
                <a:spcPct val="100000"/>
              </a:lnSpc>
              <a:buNone/>
            </a:pPr>
            <a:r>
              <a:rPr lang="en-US" sz="2500" dirty="0">
                <a:solidFill>
                  <a:srgbClr val="00FFFF"/>
                </a:solidFill>
                <a:latin typeface="Calibri" pitchFamily="34" charset="0"/>
                <a:ea typeface="Calibri" pitchFamily="34" charset="-122"/>
                <a:cs typeface="Calibri" pitchFamily="34" charset="-120"/>
              </a:rPr>
              <a:t>3
</a:t>
            </a:r>
            <a:endParaRPr lang="en-US" sz="2500" dirty="0"/>
          </a:p>
        </p:txBody>
      </p:sp>
      <p:sp>
        <p:nvSpPr>
          <p:cNvPr id="17" name="Text 11"/>
          <p:cNvSpPr/>
          <p:nvPr/>
        </p:nvSpPr>
        <p:spPr>
          <a:xfrm>
            <a:off x="8457989" y="2687253"/>
            <a:ext cx="2666933" cy="1015975"/>
          </a:xfrm>
          <a:prstGeom prst="rect">
            <a:avLst/>
          </a:prstGeom>
          <a:noFill/>
          <a:ln/>
        </p:spPr>
        <p:txBody>
          <a:bodyPr wrap="square" lIns="1016" tIns="1016" rIns="1016" bIns="1016" rtlCol="0" anchor="t"/>
          <a:lstStyle/>
          <a:p>
            <a:pPr marL="0" indent="0" algn="l">
              <a:lnSpc>
                <a:spcPct val="125000"/>
              </a:lnSpc>
              <a:buNone/>
            </a:pPr>
            <a:r>
              <a:rPr lang="en-US" sz="1400" b="1" dirty="0">
                <a:solidFill>
                  <a:srgbClr val="00FFFF"/>
                </a:solidFill>
                <a:latin typeface="Calibri" pitchFamily="34" charset="0"/>
                <a:ea typeface="Calibri" pitchFamily="34" charset="-122"/>
                <a:cs typeface="Calibri" pitchFamily="34" charset="-120"/>
              </a:rPr>
              <a:t>Impact of Age and Gender
</a:t>
            </a:r>
            <a:endParaRPr lang="en-US" sz="1400" dirty="0"/>
          </a:p>
        </p:txBody>
      </p:sp>
      <p:sp>
        <p:nvSpPr>
          <p:cNvPr id="18" name="Text 12"/>
          <p:cNvSpPr/>
          <p:nvPr/>
        </p:nvSpPr>
        <p:spPr>
          <a:xfrm>
            <a:off x="8457989" y="3639729"/>
            <a:ext cx="2666933" cy="1747476"/>
          </a:xfrm>
          <a:prstGeom prst="rect">
            <a:avLst/>
          </a:prstGeom>
          <a:noFill/>
          <a:ln/>
        </p:spPr>
        <p:txBody>
          <a:bodyPr wrap="square" lIns="1016" tIns="1016" rIns="1016" bIns="1016" rtlCol="0" anchor="t"/>
          <a:lstStyle/>
          <a:p>
            <a:pPr marL="0" indent="0" algn="l">
              <a:lnSpc>
                <a:spcPct val="140000"/>
              </a:lnSpc>
              <a:buNone/>
            </a:pPr>
            <a:r>
              <a:rPr lang="en-US" sz="1300" dirty="0">
                <a:solidFill>
                  <a:srgbClr val="B8C5D6"/>
                </a:solidFill>
                <a:latin typeface="Calibri" pitchFamily="34" charset="0"/>
                <a:ea typeface="Calibri" pitchFamily="34" charset="-122"/>
                <a:cs typeface="Calibri" pitchFamily="34" charset="-120"/>
              </a:rPr>
              <a:t>Age and gender were critical factors; younger females had the highest survival rates, while older males faced the lowest chances of survival.
</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name="Slide 8">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254794" y="-1015975"/>
            <a:ext cx="3891182" cy="4063898"/>
          </a:xfrm>
          <a:prstGeom prst="rect">
            <a:avLst/>
          </a:prstGeom>
        </p:spPr>
      </p:pic>
      <p:pic>
        <p:nvPicPr>
          <p:cNvPr id="3" name="Image 1" descr="preencoded.png"/>
          <p:cNvPicPr>
            <a:picLocks noChangeAspect="1"/>
          </p:cNvPicPr>
          <p:nvPr/>
        </p:nvPicPr>
        <p:blipFill>
          <a:blip r:embed="rId3"/>
          <a:stretch>
            <a:fillRect/>
          </a:stretch>
        </p:blipFill>
        <p:spPr>
          <a:xfrm>
            <a:off x="8254794" y="-1015975"/>
            <a:ext cx="3891182" cy="4063898"/>
          </a:xfrm>
          <a:prstGeom prst="rect">
            <a:avLst/>
          </a:prstGeom>
        </p:spPr>
      </p:pic>
      <p:pic>
        <p:nvPicPr>
          <p:cNvPr id="4" name="Image 2" descr="preencoded.png"/>
          <p:cNvPicPr>
            <a:picLocks noChangeAspect="1"/>
          </p:cNvPicPr>
          <p:nvPr/>
        </p:nvPicPr>
        <p:blipFill>
          <a:blip r:embed="rId4"/>
          <a:stretch>
            <a:fillRect/>
          </a:stretch>
        </p:blipFill>
        <p:spPr>
          <a:xfrm>
            <a:off x="716516" y="1470162"/>
            <a:ext cx="10667733" cy="4968346"/>
          </a:xfrm>
          <a:prstGeom prst="rect">
            <a:avLst/>
          </a:prstGeom>
        </p:spPr>
      </p:pic>
      <p:pic>
        <p:nvPicPr>
          <p:cNvPr id="6" name="Image 4" descr="preencoded.png"/>
          <p:cNvPicPr>
            <a:picLocks noChangeAspect="1"/>
          </p:cNvPicPr>
          <p:nvPr/>
        </p:nvPicPr>
        <p:blipFill>
          <a:blip r:embed="rId5"/>
          <a:stretch>
            <a:fillRect/>
          </a:stretch>
        </p:blipFill>
        <p:spPr>
          <a:xfrm>
            <a:off x="0" y="0"/>
            <a:ext cx="38099" cy="2285943"/>
          </a:xfrm>
          <a:prstGeom prst="rect">
            <a:avLst/>
          </a:prstGeom>
        </p:spPr>
      </p:pic>
      <p:pic>
        <p:nvPicPr>
          <p:cNvPr id="7" name="Image 5" descr="preencoded.png"/>
          <p:cNvPicPr>
            <a:picLocks noChangeAspect="1"/>
          </p:cNvPicPr>
          <p:nvPr/>
        </p:nvPicPr>
        <p:blipFill>
          <a:blip r:embed="rId5"/>
          <a:stretch>
            <a:fillRect/>
          </a:stretch>
        </p:blipFill>
        <p:spPr>
          <a:xfrm>
            <a:off x="0" y="0"/>
            <a:ext cx="38099" cy="2285943"/>
          </a:xfrm>
          <a:prstGeom prst="rect">
            <a:avLst/>
          </a:prstGeom>
        </p:spPr>
      </p:pic>
      <p:sp>
        <p:nvSpPr>
          <p:cNvPr id="8" name="Text 0"/>
          <p:cNvSpPr/>
          <p:nvPr/>
        </p:nvSpPr>
        <p:spPr>
          <a:xfrm>
            <a:off x="761981" y="888978"/>
            <a:ext cx="10667733" cy="660383"/>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Survival Rates by Gender
</a:t>
            </a:r>
            <a:endParaRPr lang="en-US" sz="2900" dirty="0"/>
          </a:p>
        </p:txBody>
      </p:sp>
      <p:graphicFrame>
        <p:nvGraphicFramePr>
          <p:cNvPr id="22" name="Chart 21">
            <a:extLst>
              <a:ext uri="{FF2B5EF4-FFF2-40B4-BE49-F238E27FC236}">
                <a16:creationId xmlns:a16="http://schemas.microsoft.com/office/drawing/2014/main" id="{A37812DF-93A6-EEBD-6CBE-661BA1346D74}"/>
              </a:ext>
            </a:extLst>
          </p:cNvPr>
          <p:cNvGraphicFramePr/>
          <p:nvPr>
            <p:extLst>
              <p:ext uri="{D42A27DB-BD31-4B8C-83A1-F6EECF244321}">
                <p14:modId xmlns:p14="http://schemas.microsoft.com/office/powerpoint/2010/main" val="3944149913"/>
              </p:ext>
            </p:extLst>
          </p:nvPr>
        </p:nvGraphicFramePr>
        <p:xfrm>
          <a:off x="1655986" y="1553324"/>
          <a:ext cx="8289116" cy="4167067"/>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0A0E27"/>
        </a:solidFill>
        <a:effectLst/>
      </p:bgPr>
    </p:bg>
    <p:spTree>
      <p:nvGrpSpPr>
        <p:cNvPr id="1" name="">
          <a:extLst>
            <a:ext uri="{FF2B5EF4-FFF2-40B4-BE49-F238E27FC236}">
              <a16:creationId xmlns:a16="http://schemas.microsoft.com/office/drawing/2014/main" id="{62E4A0B3-EA0D-C39D-D46C-25763C68348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AD939D2-5AED-E9FB-13AE-801CA6CB747D}"/>
              </a:ext>
            </a:extLst>
          </p:cNvPr>
          <p:cNvPicPr>
            <a:picLocks noChangeAspect="1"/>
          </p:cNvPicPr>
          <p:nvPr/>
        </p:nvPicPr>
        <p:blipFill>
          <a:blip r:embed="rId3"/>
          <a:stretch>
            <a:fillRect/>
          </a:stretch>
        </p:blipFill>
        <p:spPr>
          <a:xfrm>
            <a:off x="8254794" y="-1015975"/>
            <a:ext cx="3891182" cy="4063898"/>
          </a:xfrm>
          <a:prstGeom prst="rect">
            <a:avLst/>
          </a:prstGeom>
        </p:spPr>
      </p:pic>
      <p:pic>
        <p:nvPicPr>
          <p:cNvPr id="3" name="Image 1" descr="preencoded.png">
            <a:extLst>
              <a:ext uri="{FF2B5EF4-FFF2-40B4-BE49-F238E27FC236}">
                <a16:creationId xmlns:a16="http://schemas.microsoft.com/office/drawing/2014/main" id="{98B58ADF-7EFB-C881-CF01-288CEB701415}"/>
              </a:ext>
            </a:extLst>
          </p:cNvPr>
          <p:cNvPicPr>
            <a:picLocks noChangeAspect="1"/>
          </p:cNvPicPr>
          <p:nvPr/>
        </p:nvPicPr>
        <p:blipFill>
          <a:blip r:embed="rId3"/>
          <a:stretch>
            <a:fillRect/>
          </a:stretch>
        </p:blipFill>
        <p:spPr>
          <a:xfrm>
            <a:off x="8254794" y="-1015975"/>
            <a:ext cx="3891182" cy="4063898"/>
          </a:xfrm>
          <a:prstGeom prst="rect">
            <a:avLst/>
          </a:prstGeom>
        </p:spPr>
      </p:pic>
      <p:pic>
        <p:nvPicPr>
          <p:cNvPr id="4" name="Image 2" descr="preencoded.png">
            <a:extLst>
              <a:ext uri="{FF2B5EF4-FFF2-40B4-BE49-F238E27FC236}">
                <a16:creationId xmlns:a16="http://schemas.microsoft.com/office/drawing/2014/main" id="{44B86D41-1A8D-994C-B16C-6F48C1ADBC06}"/>
              </a:ext>
            </a:extLst>
          </p:cNvPr>
          <p:cNvPicPr>
            <a:picLocks noChangeAspect="1"/>
          </p:cNvPicPr>
          <p:nvPr/>
        </p:nvPicPr>
        <p:blipFill>
          <a:blip r:embed="rId4"/>
          <a:stretch>
            <a:fillRect/>
          </a:stretch>
        </p:blipFill>
        <p:spPr>
          <a:xfrm>
            <a:off x="716516" y="1470162"/>
            <a:ext cx="10667733" cy="4968346"/>
          </a:xfrm>
          <a:prstGeom prst="rect">
            <a:avLst/>
          </a:prstGeom>
        </p:spPr>
      </p:pic>
      <p:pic>
        <p:nvPicPr>
          <p:cNvPr id="6" name="Image 4" descr="preencoded.png">
            <a:extLst>
              <a:ext uri="{FF2B5EF4-FFF2-40B4-BE49-F238E27FC236}">
                <a16:creationId xmlns:a16="http://schemas.microsoft.com/office/drawing/2014/main" id="{58B56C83-99B3-CADD-E988-B3C549C914C0}"/>
              </a:ext>
            </a:extLst>
          </p:cNvPr>
          <p:cNvPicPr>
            <a:picLocks noChangeAspect="1"/>
          </p:cNvPicPr>
          <p:nvPr/>
        </p:nvPicPr>
        <p:blipFill>
          <a:blip r:embed="rId5"/>
          <a:stretch>
            <a:fillRect/>
          </a:stretch>
        </p:blipFill>
        <p:spPr>
          <a:xfrm>
            <a:off x="0" y="0"/>
            <a:ext cx="38099" cy="2285943"/>
          </a:xfrm>
          <a:prstGeom prst="rect">
            <a:avLst/>
          </a:prstGeom>
        </p:spPr>
      </p:pic>
      <p:pic>
        <p:nvPicPr>
          <p:cNvPr id="7" name="Image 5" descr="preencoded.png">
            <a:extLst>
              <a:ext uri="{FF2B5EF4-FFF2-40B4-BE49-F238E27FC236}">
                <a16:creationId xmlns:a16="http://schemas.microsoft.com/office/drawing/2014/main" id="{F5AFDCD7-F190-BA02-CC0D-6E89380D6FF4}"/>
              </a:ext>
            </a:extLst>
          </p:cNvPr>
          <p:cNvPicPr>
            <a:picLocks noChangeAspect="1"/>
          </p:cNvPicPr>
          <p:nvPr/>
        </p:nvPicPr>
        <p:blipFill>
          <a:blip r:embed="rId5"/>
          <a:stretch>
            <a:fillRect/>
          </a:stretch>
        </p:blipFill>
        <p:spPr>
          <a:xfrm>
            <a:off x="0" y="0"/>
            <a:ext cx="38099" cy="2285943"/>
          </a:xfrm>
          <a:prstGeom prst="rect">
            <a:avLst/>
          </a:prstGeom>
        </p:spPr>
      </p:pic>
      <p:sp>
        <p:nvSpPr>
          <p:cNvPr id="8" name="Text 0">
            <a:extLst>
              <a:ext uri="{FF2B5EF4-FFF2-40B4-BE49-F238E27FC236}">
                <a16:creationId xmlns:a16="http://schemas.microsoft.com/office/drawing/2014/main" id="{B4B3E680-96B6-4BE1-E29A-129D383E6E7C}"/>
              </a:ext>
            </a:extLst>
          </p:cNvPr>
          <p:cNvSpPr/>
          <p:nvPr/>
        </p:nvSpPr>
        <p:spPr>
          <a:xfrm>
            <a:off x="761981" y="888978"/>
            <a:ext cx="10667733" cy="660383"/>
          </a:xfrm>
          <a:prstGeom prst="rect">
            <a:avLst/>
          </a:prstGeom>
          <a:noFill/>
          <a:ln/>
        </p:spPr>
        <p:txBody>
          <a:bodyPr wrap="square" lIns="1016" tIns="1016" rIns="1016" bIns="1016" rtlCol="0" anchor="t"/>
          <a:lstStyle/>
          <a:p>
            <a:pPr>
              <a:lnSpc>
                <a:spcPct val="120000"/>
              </a:lnSpc>
            </a:pPr>
            <a:r>
              <a:rPr lang="en-US" sz="2900" b="1" dirty="0">
                <a:solidFill>
                  <a:srgbClr val="00FFFF"/>
                </a:solidFill>
                <a:latin typeface="Calibri" pitchFamily="34" charset="0"/>
                <a:cs typeface="Calibri" pitchFamily="34" charset="-120"/>
              </a:rPr>
              <a:t>Survival</a:t>
            </a:r>
            <a:r>
              <a:rPr lang="en-US" sz="3200" b="1" dirty="0">
                <a:solidFill>
                  <a:srgbClr val="08413D"/>
                </a:solidFill>
              </a:rPr>
              <a:t> </a:t>
            </a:r>
            <a:r>
              <a:rPr lang="en-US" sz="2900" b="1" dirty="0">
                <a:solidFill>
                  <a:srgbClr val="00FFFF"/>
                </a:solidFill>
                <a:latin typeface="Calibri" pitchFamily="34" charset="0"/>
                <a:cs typeface="Calibri" pitchFamily="34" charset="-120"/>
              </a:rPr>
              <a:t>Rate</a:t>
            </a:r>
            <a:r>
              <a:rPr lang="en-US" sz="3200" b="1" dirty="0">
                <a:solidFill>
                  <a:srgbClr val="08413D"/>
                </a:solidFill>
              </a:rPr>
              <a:t> </a:t>
            </a:r>
            <a:r>
              <a:rPr lang="en-US" sz="2900" b="1" dirty="0">
                <a:solidFill>
                  <a:srgbClr val="00FFFF"/>
                </a:solidFill>
                <a:latin typeface="Calibri" pitchFamily="34" charset="0"/>
                <a:cs typeface="Calibri" pitchFamily="34" charset="-120"/>
              </a:rPr>
              <a:t>by</a:t>
            </a:r>
            <a:r>
              <a:rPr lang="en-US" sz="3200" b="1" dirty="0">
                <a:solidFill>
                  <a:srgbClr val="08413D"/>
                </a:solidFill>
              </a:rPr>
              <a:t> </a:t>
            </a:r>
            <a:r>
              <a:rPr lang="en-US" sz="2900" b="1" dirty="0">
                <a:solidFill>
                  <a:srgbClr val="00FFFF"/>
                </a:solidFill>
                <a:latin typeface="Calibri" pitchFamily="34" charset="0"/>
                <a:cs typeface="Calibri" pitchFamily="34" charset="-120"/>
              </a:rPr>
              <a:t>Embarkation</a:t>
            </a:r>
            <a:r>
              <a:rPr lang="en-US" sz="3200" b="1" dirty="0">
                <a:solidFill>
                  <a:srgbClr val="08413D"/>
                </a:solidFill>
              </a:rPr>
              <a:t> </a:t>
            </a:r>
            <a:r>
              <a:rPr lang="en-US" sz="2900" b="1" dirty="0">
                <a:solidFill>
                  <a:srgbClr val="00FFFF"/>
                </a:solidFill>
                <a:latin typeface="Calibri" pitchFamily="34" charset="0"/>
                <a:cs typeface="Calibri" pitchFamily="34" charset="-120"/>
              </a:rPr>
              <a:t>Port</a:t>
            </a:r>
          </a:p>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
</a:t>
            </a:r>
            <a:endParaRPr lang="en-US" sz="2900" dirty="0"/>
          </a:p>
        </p:txBody>
      </p:sp>
      <p:graphicFrame>
        <p:nvGraphicFramePr>
          <p:cNvPr id="22" name="Chart 21">
            <a:extLst>
              <a:ext uri="{FF2B5EF4-FFF2-40B4-BE49-F238E27FC236}">
                <a16:creationId xmlns:a16="http://schemas.microsoft.com/office/drawing/2014/main" id="{A8F1989B-36A2-7113-D247-8C7C7769D8B5}"/>
              </a:ext>
            </a:extLst>
          </p:cNvPr>
          <p:cNvGraphicFramePr/>
          <p:nvPr>
            <p:extLst>
              <p:ext uri="{D42A27DB-BD31-4B8C-83A1-F6EECF244321}">
                <p14:modId xmlns:p14="http://schemas.microsoft.com/office/powerpoint/2010/main" val="3829854053"/>
              </p:ext>
            </p:extLst>
          </p:nvPr>
        </p:nvGraphicFramePr>
        <p:xfrm>
          <a:off x="1552469" y="1470161"/>
          <a:ext cx="8289116" cy="416706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348209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0A0E27"/>
        </a:solidFill>
        <a:effectLst/>
      </p:bgPr>
    </p:bg>
    <p:spTree>
      <p:nvGrpSpPr>
        <p:cNvPr id="1" name="">
          <a:extLst>
            <a:ext uri="{FF2B5EF4-FFF2-40B4-BE49-F238E27FC236}">
              <a16:creationId xmlns:a16="http://schemas.microsoft.com/office/drawing/2014/main" id="{E41D7A3E-ADF4-CDCE-BBEC-A8620CABEE6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180C7D2-C288-EB15-5A02-08523A37FE21}"/>
              </a:ext>
            </a:extLst>
          </p:cNvPr>
          <p:cNvPicPr>
            <a:picLocks noChangeAspect="1"/>
          </p:cNvPicPr>
          <p:nvPr/>
        </p:nvPicPr>
        <p:blipFill>
          <a:blip r:embed="rId3"/>
          <a:stretch>
            <a:fillRect/>
          </a:stretch>
        </p:blipFill>
        <p:spPr>
          <a:xfrm>
            <a:off x="8254794" y="-1015975"/>
            <a:ext cx="3891182" cy="4063898"/>
          </a:xfrm>
          <a:prstGeom prst="rect">
            <a:avLst/>
          </a:prstGeom>
        </p:spPr>
      </p:pic>
      <p:pic>
        <p:nvPicPr>
          <p:cNvPr id="3" name="Image 1" descr="preencoded.png">
            <a:extLst>
              <a:ext uri="{FF2B5EF4-FFF2-40B4-BE49-F238E27FC236}">
                <a16:creationId xmlns:a16="http://schemas.microsoft.com/office/drawing/2014/main" id="{C22EE6A9-330E-D00F-A9DE-B460BDAB18B1}"/>
              </a:ext>
            </a:extLst>
          </p:cNvPr>
          <p:cNvPicPr>
            <a:picLocks noChangeAspect="1"/>
          </p:cNvPicPr>
          <p:nvPr/>
        </p:nvPicPr>
        <p:blipFill>
          <a:blip r:embed="rId3"/>
          <a:stretch>
            <a:fillRect/>
          </a:stretch>
        </p:blipFill>
        <p:spPr>
          <a:xfrm>
            <a:off x="8254794" y="-1015975"/>
            <a:ext cx="3891182" cy="4063898"/>
          </a:xfrm>
          <a:prstGeom prst="rect">
            <a:avLst/>
          </a:prstGeom>
        </p:spPr>
      </p:pic>
      <p:pic>
        <p:nvPicPr>
          <p:cNvPr id="4" name="Image 2" descr="preencoded.png">
            <a:extLst>
              <a:ext uri="{FF2B5EF4-FFF2-40B4-BE49-F238E27FC236}">
                <a16:creationId xmlns:a16="http://schemas.microsoft.com/office/drawing/2014/main" id="{B91956B0-311D-9DE9-1006-85AB6DCA2082}"/>
              </a:ext>
            </a:extLst>
          </p:cNvPr>
          <p:cNvPicPr>
            <a:picLocks noChangeAspect="1"/>
          </p:cNvPicPr>
          <p:nvPr/>
        </p:nvPicPr>
        <p:blipFill>
          <a:blip r:embed="rId4"/>
          <a:stretch>
            <a:fillRect/>
          </a:stretch>
        </p:blipFill>
        <p:spPr>
          <a:xfrm>
            <a:off x="716516" y="1470162"/>
            <a:ext cx="10667733" cy="4968346"/>
          </a:xfrm>
          <a:prstGeom prst="rect">
            <a:avLst/>
          </a:prstGeom>
        </p:spPr>
      </p:pic>
      <p:pic>
        <p:nvPicPr>
          <p:cNvPr id="6" name="Image 4" descr="preencoded.png">
            <a:extLst>
              <a:ext uri="{FF2B5EF4-FFF2-40B4-BE49-F238E27FC236}">
                <a16:creationId xmlns:a16="http://schemas.microsoft.com/office/drawing/2014/main" id="{947FD726-05E4-40E3-53BF-0AE03083E2FC}"/>
              </a:ext>
            </a:extLst>
          </p:cNvPr>
          <p:cNvPicPr>
            <a:picLocks noChangeAspect="1"/>
          </p:cNvPicPr>
          <p:nvPr/>
        </p:nvPicPr>
        <p:blipFill>
          <a:blip r:embed="rId5"/>
          <a:stretch>
            <a:fillRect/>
          </a:stretch>
        </p:blipFill>
        <p:spPr>
          <a:xfrm>
            <a:off x="0" y="0"/>
            <a:ext cx="38099" cy="2285943"/>
          </a:xfrm>
          <a:prstGeom prst="rect">
            <a:avLst/>
          </a:prstGeom>
        </p:spPr>
      </p:pic>
      <p:pic>
        <p:nvPicPr>
          <p:cNvPr id="7" name="Image 5" descr="preencoded.png">
            <a:extLst>
              <a:ext uri="{FF2B5EF4-FFF2-40B4-BE49-F238E27FC236}">
                <a16:creationId xmlns:a16="http://schemas.microsoft.com/office/drawing/2014/main" id="{44DC20D2-F498-42C0-2DAB-7C5FDEBBD19F}"/>
              </a:ext>
            </a:extLst>
          </p:cNvPr>
          <p:cNvPicPr>
            <a:picLocks noChangeAspect="1"/>
          </p:cNvPicPr>
          <p:nvPr/>
        </p:nvPicPr>
        <p:blipFill>
          <a:blip r:embed="rId5"/>
          <a:stretch>
            <a:fillRect/>
          </a:stretch>
        </p:blipFill>
        <p:spPr>
          <a:xfrm>
            <a:off x="0" y="0"/>
            <a:ext cx="38099" cy="2285943"/>
          </a:xfrm>
          <a:prstGeom prst="rect">
            <a:avLst/>
          </a:prstGeom>
        </p:spPr>
      </p:pic>
      <p:sp>
        <p:nvSpPr>
          <p:cNvPr id="8" name="Text 0">
            <a:extLst>
              <a:ext uri="{FF2B5EF4-FFF2-40B4-BE49-F238E27FC236}">
                <a16:creationId xmlns:a16="http://schemas.microsoft.com/office/drawing/2014/main" id="{9DE60BFD-06D4-0CB8-0951-D34AF0B998B4}"/>
              </a:ext>
            </a:extLst>
          </p:cNvPr>
          <p:cNvSpPr/>
          <p:nvPr/>
        </p:nvSpPr>
        <p:spPr>
          <a:xfrm>
            <a:off x="761981" y="888978"/>
            <a:ext cx="10667733" cy="660383"/>
          </a:xfrm>
          <a:prstGeom prst="rect">
            <a:avLst/>
          </a:prstGeom>
          <a:noFill/>
          <a:ln/>
        </p:spPr>
        <p:txBody>
          <a:bodyPr wrap="square" lIns="1016" tIns="1016" rIns="1016" bIns="1016" rtlCol="0" anchor="t"/>
          <a:lstStyle/>
          <a:p>
            <a:pPr>
              <a:lnSpc>
                <a:spcPct val="120000"/>
              </a:lnSpc>
            </a:pPr>
            <a:r>
              <a:rPr lang="en-US" sz="2900" b="1" dirty="0">
                <a:solidFill>
                  <a:srgbClr val="00FFFF"/>
                </a:solidFill>
                <a:latin typeface="Calibri" pitchFamily="34" charset="0"/>
                <a:cs typeface="Calibri" pitchFamily="34" charset="-120"/>
              </a:rPr>
              <a:t>Survival Rate by Fare Group</a:t>
            </a:r>
          </a:p>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
</a:t>
            </a:r>
            <a:endParaRPr lang="en-US" sz="2900" dirty="0"/>
          </a:p>
        </p:txBody>
      </p:sp>
      <p:graphicFrame>
        <p:nvGraphicFramePr>
          <p:cNvPr id="22" name="Chart 21">
            <a:extLst>
              <a:ext uri="{FF2B5EF4-FFF2-40B4-BE49-F238E27FC236}">
                <a16:creationId xmlns:a16="http://schemas.microsoft.com/office/drawing/2014/main" id="{B1F57257-9AF6-E287-257D-01BBEFC696A1}"/>
              </a:ext>
            </a:extLst>
          </p:cNvPr>
          <p:cNvGraphicFramePr/>
          <p:nvPr>
            <p:extLst>
              <p:ext uri="{D42A27DB-BD31-4B8C-83A1-F6EECF244321}">
                <p14:modId xmlns:p14="http://schemas.microsoft.com/office/powerpoint/2010/main" val="2018976562"/>
              </p:ext>
            </p:extLst>
          </p:nvPr>
        </p:nvGraphicFramePr>
        <p:xfrm>
          <a:off x="1552469" y="1470161"/>
          <a:ext cx="8289116" cy="416706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58981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0A0E27"/>
        </a:solidFill>
        <a:effectLst/>
      </p:bgPr>
    </p:bg>
    <p:spTree>
      <p:nvGrpSpPr>
        <p:cNvPr id="1" name="">
          <a:extLst>
            <a:ext uri="{FF2B5EF4-FFF2-40B4-BE49-F238E27FC236}">
              <a16:creationId xmlns:a16="http://schemas.microsoft.com/office/drawing/2014/main" id="{AC314DC6-5909-F316-CA5B-FB543063338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2932DAC-CCE2-1268-FB4D-698D3E48ED8E}"/>
              </a:ext>
            </a:extLst>
          </p:cNvPr>
          <p:cNvPicPr>
            <a:picLocks noChangeAspect="1"/>
          </p:cNvPicPr>
          <p:nvPr/>
        </p:nvPicPr>
        <p:blipFill>
          <a:blip r:embed="rId3"/>
          <a:stretch>
            <a:fillRect/>
          </a:stretch>
        </p:blipFill>
        <p:spPr>
          <a:xfrm>
            <a:off x="8254794" y="-1015975"/>
            <a:ext cx="3891182" cy="4063898"/>
          </a:xfrm>
          <a:prstGeom prst="rect">
            <a:avLst/>
          </a:prstGeom>
        </p:spPr>
      </p:pic>
      <p:pic>
        <p:nvPicPr>
          <p:cNvPr id="3" name="Image 1" descr="preencoded.png">
            <a:extLst>
              <a:ext uri="{FF2B5EF4-FFF2-40B4-BE49-F238E27FC236}">
                <a16:creationId xmlns:a16="http://schemas.microsoft.com/office/drawing/2014/main" id="{592C3E32-33AF-3A49-293B-6ABFB55B4A78}"/>
              </a:ext>
            </a:extLst>
          </p:cNvPr>
          <p:cNvPicPr>
            <a:picLocks noChangeAspect="1"/>
          </p:cNvPicPr>
          <p:nvPr/>
        </p:nvPicPr>
        <p:blipFill>
          <a:blip r:embed="rId3"/>
          <a:stretch>
            <a:fillRect/>
          </a:stretch>
        </p:blipFill>
        <p:spPr>
          <a:xfrm>
            <a:off x="8254794" y="-1015975"/>
            <a:ext cx="3891182" cy="4063898"/>
          </a:xfrm>
          <a:prstGeom prst="rect">
            <a:avLst/>
          </a:prstGeom>
        </p:spPr>
      </p:pic>
      <p:pic>
        <p:nvPicPr>
          <p:cNvPr id="4" name="Image 2" descr="preencoded.png">
            <a:extLst>
              <a:ext uri="{FF2B5EF4-FFF2-40B4-BE49-F238E27FC236}">
                <a16:creationId xmlns:a16="http://schemas.microsoft.com/office/drawing/2014/main" id="{A11B508B-0D65-C886-7D78-5E2A78C386A9}"/>
              </a:ext>
            </a:extLst>
          </p:cNvPr>
          <p:cNvPicPr>
            <a:picLocks noChangeAspect="1"/>
          </p:cNvPicPr>
          <p:nvPr/>
        </p:nvPicPr>
        <p:blipFill>
          <a:blip r:embed="rId4"/>
          <a:stretch>
            <a:fillRect/>
          </a:stretch>
        </p:blipFill>
        <p:spPr>
          <a:xfrm>
            <a:off x="716516" y="1470162"/>
            <a:ext cx="10667733" cy="4968346"/>
          </a:xfrm>
          <a:prstGeom prst="rect">
            <a:avLst/>
          </a:prstGeom>
        </p:spPr>
      </p:pic>
      <p:pic>
        <p:nvPicPr>
          <p:cNvPr id="6" name="Image 4" descr="preencoded.png">
            <a:extLst>
              <a:ext uri="{FF2B5EF4-FFF2-40B4-BE49-F238E27FC236}">
                <a16:creationId xmlns:a16="http://schemas.microsoft.com/office/drawing/2014/main" id="{8C7769F4-D9C9-796F-2DB0-B02ADEFD16F6}"/>
              </a:ext>
            </a:extLst>
          </p:cNvPr>
          <p:cNvPicPr>
            <a:picLocks noChangeAspect="1"/>
          </p:cNvPicPr>
          <p:nvPr/>
        </p:nvPicPr>
        <p:blipFill>
          <a:blip r:embed="rId5"/>
          <a:stretch>
            <a:fillRect/>
          </a:stretch>
        </p:blipFill>
        <p:spPr>
          <a:xfrm>
            <a:off x="0" y="0"/>
            <a:ext cx="38099" cy="2285943"/>
          </a:xfrm>
          <a:prstGeom prst="rect">
            <a:avLst/>
          </a:prstGeom>
        </p:spPr>
      </p:pic>
      <p:pic>
        <p:nvPicPr>
          <p:cNvPr id="7" name="Image 5" descr="preencoded.png">
            <a:extLst>
              <a:ext uri="{FF2B5EF4-FFF2-40B4-BE49-F238E27FC236}">
                <a16:creationId xmlns:a16="http://schemas.microsoft.com/office/drawing/2014/main" id="{25BBD9CB-7A2F-2239-05F3-29543436B398}"/>
              </a:ext>
            </a:extLst>
          </p:cNvPr>
          <p:cNvPicPr>
            <a:picLocks noChangeAspect="1"/>
          </p:cNvPicPr>
          <p:nvPr/>
        </p:nvPicPr>
        <p:blipFill>
          <a:blip r:embed="rId5"/>
          <a:stretch>
            <a:fillRect/>
          </a:stretch>
        </p:blipFill>
        <p:spPr>
          <a:xfrm>
            <a:off x="0" y="0"/>
            <a:ext cx="38099" cy="2285943"/>
          </a:xfrm>
          <a:prstGeom prst="rect">
            <a:avLst/>
          </a:prstGeom>
        </p:spPr>
      </p:pic>
      <p:sp>
        <p:nvSpPr>
          <p:cNvPr id="8" name="Text 0">
            <a:extLst>
              <a:ext uri="{FF2B5EF4-FFF2-40B4-BE49-F238E27FC236}">
                <a16:creationId xmlns:a16="http://schemas.microsoft.com/office/drawing/2014/main" id="{5386ABBF-8B83-BD18-BA19-B9F67827470C}"/>
              </a:ext>
            </a:extLst>
          </p:cNvPr>
          <p:cNvSpPr/>
          <p:nvPr/>
        </p:nvSpPr>
        <p:spPr>
          <a:xfrm>
            <a:off x="761981" y="888978"/>
            <a:ext cx="10667733" cy="660383"/>
          </a:xfrm>
          <a:prstGeom prst="rect">
            <a:avLst/>
          </a:prstGeom>
          <a:noFill/>
          <a:ln/>
        </p:spPr>
        <p:txBody>
          <a:bodyPr wrap="square" lIns="1016" tIns="1016" rIns="1016" bIns="1016" rtlCol="0" anchor="t"/>
          <a:lstStyle/>
          <a:p>
            <a:pPr>
              <a:lnSpc>
                <a:spcPct val="120000"/>
              </a:lnSpc>
            </a:pPr>
            <a:r>
              <a:rPr lang="en-US" sz="2900" b="1" dirty="0">
                <a:solidFill>
                  <a:srgbClr val="00FFFF"/>
                </a:solidFill>
                <a:latin typeface="Calibri" pitchFamily="34" charset="0"/>
                <a:cs typeface="Calibri" pitchFamily="34" charset="-120"/>
              </a:rPr>
              <a:t>Survival Rate by Fare Group</a:t>
            </a:r>
          </a:p>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
</a:t>
            </a:r>
            <a:endParaRPr lang="en-US" sz="2900" dirty="0"/>
          </a:p>
        </p:txBody>
      </p:sp>
      <p:graphicFrame>
        <p:nvGraphicFramePr>
          <p:cNvPr id="22" name="Chart 21">
            <a:extLst>
              <a:ext uri="{FF2B5EF4-FFF2-40B4-BE49-F238E27FC236}">
                <a16:creationId xmlns:a16="http://schemas.microsoft.com/office/drawing/2014/main" id="{4CB44129-20A6-BDCC-75A3-0144B3445A09}"/>
              </a:ext>
            </a:extLst>
          </p:cNvPr>
          <p:cNvGraphicFramePr/>
          <p:nvPr>
            <p:extLst>
              <p:ext uri="{D42A27DB-BD31-4B8C-83A1-F6EECF244321}">
                <p14:modId xmlns:p14="http://schemas.microsoft.com/office/powerpoint/2010/main" val="461671609"/>
              </p:ext>
            </p:extLst>
          </p:nvPr>
        </p:nvGraphicFramePr>
        <p:xfrm>
          <a:off x="-45465" y="1549361"/>
          <a:ext cx="6215218" cy="416706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 name="Chart 4">
            <a:extLst>
              <a:ext uri="{FF2B5EF4-FFF2-40B4-BE49-F238E27FC236}">
                <a16:creationId xmlns:a16="http://schemas.microsoft.com/office/drawing/2014/main" id="{E72B0423-DCC3-2AAD-10E2-E7BCD848FC41}"/>
              </a:ext>
            </a:extLst>
          </p:cNvPr>
          <p:cNvGraphicFramePr/>
          <p:nvPr>
            <p:extLst>
              <p:ext uri="{D42A27DB-BD31-4B8C-83A1-F6EECF244321}">
                <p14:modId xmlns:p14="http://schemas.microsoft.com/office/powerpoint/2010/main" val="4123638152"/>
              </p:ext>
            </p:extLst>
          </p:nvPr>
        </p:nvGraphicFramePr>
        <p:xfrm>
          <a:off x="5669392" y="1470162"/>
          <a:ext cx="6215218" cy="4167067"/>
        </p:xfrm>
        <a:graphic>
          <a:graphicData uri="http://schemas.openxmlformats.org/drawingml/2006/chart">
            <c:chart xmlns:c="http://schemas.openxmlformats.org/drawingml/2006/chart" xmlns:r="http://schemas.openxmlformats.org/officeDocument/2006/relationships" r:id="rId7"/>
          </a:graphicData>
        </a:graphic>
      </p:graphicFrame>
      <p:sp>
        <p:nvSpPr>
          <p:cNvPr id="9" name="TextBox 8">
            <a:extLst>
              <a:ext uri="{FF2B5EF4-FFF2-40B4-BE49-F238E27FC236}">
                <a16:creationId xmlns:a16="http://schemas.microsoft.com/office/drawing/2014/main" id="{21262BC3-C3E1-C0A2-8751-877974A4C578}"/>
              </a:ext>
            </a:extLst>
          </p:cNvPr>
          <p:cNvSpPr txBox="1"/>
          <p:nvPr/>
        </p:nvSpPr>
        <p:spPr>
          <a:xfrm>
            <a:off x="1497260" y="5699717"/>
            <a:ext cx="3191899" cy="984885"/>
          </a:xfrm>
          <a:prstGeom prst="rect">
            <a:avLst/>
          </a:prstGeom>
          <a:noFill/>
        </p:spPr>
        <p:txBody>
          <a:bodyPr wrap="none" rtlCol="0">
            <a:spAutoFit/>
          </a:bodyPr>
          <a:lstStyle/>
          <a:p>
            <a:r>
              <a:rPr lang="en-US" sz="2900" b="1" dirty="0">
                <a:solidFill>
                  <a:srgbClr val="8397BD"/>
                </a:solidFill>
                <a:latin typeface="Calibri" pitchFamily="34" charset="0"/>
                <a:cs typeface="Calibri" pitchFamily="34" charset="-120"/>
              </a:rPr>
              <a:t>siblings</a:t>
            </a:r>
            <a:r>
              <a:rPr lang="en-US" dirty="0">
                <a:solidFill>
                  <a:srgbClr val="8397BD"/>
                </a:solidFill>
              </a:rPr>
              <a:t> </a:t>
            </a:r>
            <a:r>
              <a:rPr lang="en-US" sz="2900" b="1" dirty="0">
                <a:solidFill>
                  <a:srgbClr val="8397BD"/>
                </a:solidFill>
                <a:latin typeface="Calibri" pitchFamily="34" charset="0"/>
                <a:cs typeface="Calibri" pitchFamily="34" charset="-120"/>
              </a:rPr>
              <a:t>&amp;&amp;</a:t>
            </a:r>
            <a:r>
              <a:rPr lang="en-US" dirty="0">
                <a:solidFill>
                  <a:srgbClr val="8397BD"/>
                </a:solidFill>
              </a:rPr>
              <a:t> </a:t>
            </a:r>
            <a:r>
              <a:rPr lang="en-US" sz="2900" b="1" dirty="0">
                <a:solidFill>
                  <a:srgbClr val="8397BD"/>
                </a:solidFill>
                <a:latin typeface="Calibri" pitchFamily="34" charset="0"/>
                <a:cs typeface="Calibri" pitchFamily="34" charset="-120"/>
              </a:rPr>
              <a:t>spouses</a:t>
            </a:r>
          </a:p>
          <a:p>
            <a:endParaRPr lang="en-US" sz="2900" b="1" dirty="0">
              <a:solidFill>
                <a:srgbClr val="8397BD"/>
              </a:solidFill>
              <a:latin typeface="Calibri" pitchFamily="34" charset="0"/>
              <a:cs typeface="Calibri" pitchFamily="34" charset="-120"/>
            </a:endParaRPr>
          </a:p>
        </p:txBody>
      </p:sp>
      <p:sp>
        <p:nvSpPr>
          <p:cNvPr id="11" name="TextBox 10">
            <a:extLst>
              <a:ext uri="{FF2B5EF4-FFF2-40B4-BE49-F238E27FC236}">
                <a16:creationId xmlns:a16="http://schemas.microsoft.com/office/drawing/2014/main" id="{5338602C-66F3-2820-D99C-74A7A59B899A}"/>
              </a:ext>
            </a:extLst>
          </p:cNvPr>
          <p:cNvSpPr txBox="1"/>
          <p:nvPr/>
        </p:nvSpPr>
        <p:spPr>
          <a:xfrm>
            <a:off x="7141387" y="5703237"/>
            <a:ext cx="6117996" cy="538609"/>
          </a:xfrm>
          <a:prstGeom prst="rect">
            <a:avLst/>
          </a:prstGeom>
          <a:noFill/>
        </p:spPr>
        <p:txBody>
          <a:bodyPr wrap="square">
            <a:spAutoFit/>
          </a:bodyPr>
          <a:lstStyle/>
          <a:p>
            <a:r>
              <a:rPr lang="en-US" sz="2900" b="1" dirty="0">
                <a:solidFill>
                  <a:srgbClr val="8397BD"/>
                </a:solidFill>
                <a:latin typeface="Calibri" pitchFamily="34" charset="0"/>
                <a:cs typeface="Calibri" pitchFamily="34" charset="-120"/>
              </a:rPr>
              <a:t>Parents &amp;&amp; children</a:t>
            </a:r>
            <a:endParaRPr lang="en-US" sz="1800" b="1" dirty="0">
              <a:solidFill>
                <a:srgbClr val="3E69B5"/>
              </a:solidFill>
              <a:latin typeface="Calibri" pitchFamily="34" charset="0"/>
              <a:cs typeface="Calibri" pitchFamily="34" charset="-120"/>
            </a:endParaRPr>
          </a:p>
        </p:txBody>
      </p:sp>
    </p:spTree>
    <p:extLst>
      <p:ext uri="{BB962C8B-B14F-4D97-AF65-F5344CB8AC3E}">
        <p14:creationId xmlns:p14="http://schemas.microsoft.com/office/powerpoint/2010/main" val="3705324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Conclusion of Findings
</a:t>
            </a:r>
            <a:endParaRPr lang="en-US" sz="2900" dirty="0"/>
          </a:p>
        </p:txBody>
      </p:sp>
      <p:sp>
        <p:nvSpPr>
          <p:cNvPr id="7" name="Text 1"/>
          <p:cNvSpPr/>
          <p:nvPr/>
        </p:nvSpPr>
        <p:spPr>
          <a:xfrm>
            <a:off x="761981" y="1925272"/>
            <a:ext cx="3284985" cy="698483"/>
          </a:xfrm>
          <a:prstGeom prst="rect">
            <a:avLst/>
          </a:prstGeom>
          <a:noFill/>
          <a:ln/>
        </p:spPr>
        <p:txBody>
          <a:bodyPr wrap="square" lIns="0" tIns="0" rIns="0" bIns="0" rtlCol="0" anchor="t"/>
          <a:lstStyle/>
          <a:p>
            <a:pPr marL="0" indent="0" algn="l">
              <a:lnSpc>
                <a:spcPct val="120000"/>
              </a:lnSpc>
              <a:buNone/>
            </a:pPr>
            <a:r>
              <a:rPr lang="en-US" sz="1400" b="1" dirty="0">
                <a:solidFill>
                  <a:srgbClr val="00FFFF"/>
                </a:solidFill>
                <a:latin typeface="Calibri" pitchFamily="34" charset="0"/>
                <a:ea typeface="Calibri" pitchFamily="34" charset="-122"/>
                <a:cs typeface="Calibri" pitchFamily="34" charset="-120"/>
              </a:rPr>
              <a:t>Valuable Insights
</a:t>
            </a:r>
            <a:endParaRPr lang="en-US" sz="1400" dirty="0"/>
          </a:p>
        </p:txBody>
      </p:sp>
      <p:sp>
        <p:nvSpPr>
          <p:cNvPr id="8" name="Text 2"/>
          <p:cNvSpPr/>
          <p:nvPr/>
        </p:nvSpPr>
        <p:spPr>
          <a:xfrm>
            <a:off x="761981" y="2877748"/>
            <a:ext cx="3284985" cy="1269968"/>
          </a:xfrm>
          <a:prstGeom prst="rect">
            <a:avLst/>
          </a:prstGeom>
          <a:noFill/>
          <a:ln/>
        </p:spPr>
        <p:txBody>
          <a:bodyPr wrap="square" lIns="0" tIns="0" rIns="0" bIns="0" rtlCol="0" anchor="t"/>
          <a:lstStyle/>
          <a:p>
            <a:pPr marL="0" indent="0" algn="l">
              <a:lnSpc>
                <a:spcPct val="160000"/>
              </a:lnSpc>
              <a:buNone/>
            </a:pPr>
            <a:r>
              <a:rPr lang="en-US" sz="1300" dirty="0">
                <a:solidFill>
                  <a:srgbClr val="B8C5D6"/>
                </a:solidFill>
                <a:latin typeface="Calibri" pitchFamily="34" charset="0"/>
                <a:ea typeface="Calibri" pitchFamily="34" charset="-122"/>
                <a:cs typeface="Calibri" pitchFamily="34" charset="-120"/>
              </a:rPr>
              <a:t>The Titanic dataset reveals critical insights into survival factors, highlighting the importance of gender and class in determining survival rates among passengers.
</a:t>
            </a:r>
            <a:endParaRPr lang="en-US" sz="1300" dirty="0"/>
          </a:p>
        </p:txBody>
      </p:sp>
      <p:sp>
        <p:nvSpPr>
          <p:cNvPr id="9" name="Shape 3"/>
          <p:cNvSpPr/>
          <p:nvPr/>
        </p:nvSpPr>
        <p:spPr>
          <a:xfrm>
            <a:off x="761981" y="4782700"/>
            <a:ext cx="1015975" cy="76198"/>
          </a:xfrm>
          <a:prstGeom prst="rect">
            <a:avLst/>
          </a:prstGeom>
          <a:solidFill>
            <a:srgbClr val="00FFFF"/>
          </a:solidFill>
          <a:ln/>
        </p:spPr>
        <p:txBody>
          <a:bodyPr/>
          <a:lstStyle/>
          <a:p>
            <a:endParaRPr lang="en-US"/>
          </a:p>
        </p:txBody>
      </p:sp>
      <p:sp>
        <p:nvSpPr>
          <p:cNvPr id="10" name="Text 4"/>
          <p:cNvSpPr/>
          <p:nvPr/>
        </p:nvSpPr>
        <p:spPr>
          <a:xfrm>
            <a:off x="4453355" y="1925272"/>
            <a:ext cx="3284985" cy="698483"/>
          </a:xfrm>
          <a:prstGeom prst="rect">
            <a:avLst/>
          </a:prstGeom>
          <a:noFill/>
          <a:ln/>
        </p:spPr>
        <p:txBody>
          <a:bodyPr wrap="square" lIns="0" tIns="0" rIns="0" bIns="0" rtlCol="0" anchor="t"/>
          <a:lstStyle/>
          <a:p>
            <a:pPr marL="0" indent="0" algn="l">
              <a:lnSpc>
                <a:spcPct val="120000"/>
              </a:lnSpc>
              <a:buNone/>
            </a:pPr>
            <a:r>
              <a:rPr lang="en-US" sz="1400" b="1" dirty="0">
                <a:solidFill>
                  <a:srgbClr val="00FFFF"/>
                </a:solidFill>
                <a:latin typeface="Calibri" pitchFamily="34" charset="0"/>
                <a:ea typeface="Calibri" pitchFamily="34" charset="-122"/>
                <a:cs typeface="Calibri" pitchFamily="34" charset="-120"/>
              </a:rPr>
              <a:t>Impact of Gender
</a:t>
            </a:r>
            <a:endParaRPr lang="en-US" sz="1400" dirty="0"/>
          </a:p>
        </p:txBody>
      </p:sp>
      <p:sp>
        <p:nvSpPr>
          <p:cNvPr id="11" name="Text 5"/>
          <p:cNvSpPr/>
          <p:nvPr/>
        </p:nvSpPr>
        <p:spPr>
          <a:xfrm>
            <a:off x="4453355" y="2877748"/>
            <a:ext cx="3284985" cy="1269968"/>
          </a:xfrm>
          <a:prstGeom prst="rect">
            <a:avLst/>
          </a:prstGeom>
          <a:noFill/>
          <a:ln/>
        </p:spPr>
        <p:txBody>
          <a:bodyPr wrap="square" lIns="0" tIns="0" rIns="0" bIns="0" rtlCol="0" anchor="t"/>
          <a:lstStyle/>
          <a:p>
            <a:pPr marL="0" indent="0" algn="l">
              <a:lnSpc>
                <a:spcPct val="160000"/>
              </a:lnSpc>
              <a:buNone/>
            </a:pPr>
            <a:r>
              <a:rPr lang="en-US" sz="1300" dirty="0">
                <a:solidFill>
                  <a:srgbClr val="B8C5D6"/>
                </a:solidFill>
                <a:latin typeface="Calibri" pitchFamily="34" charset="0"/>
                <a:ea typeface="Calibri" pitchFamily="34" charset="-122"/>
                <a:cs typeface="Calibri" pitchFamily="34" charset="-120"/>
              </a:rPr>
              <a:t>Analysis shows that female passengers had significantly higher survival rates, with approximately 74% surviving compared to only 20% of male passengers across all classes.
</a:t>
            </a:r>
            <a:endParaRPr lang="en-US" sz="1300" dirty="0"/>
          </a:p>
        </p:txBody>
      </p:sp>
      <p:sp>
        <p:nvSpPr>
          <p:cNvPr id="12" name="Shape 6"/>
          <p:cNvSpPr/>
          <p:nvPr/>
        </p:nvSpPr>
        <p:spPr>
          <a:xfrm>
            <a:off x="4453355" y="4782700"/>
            <a:ext cx="1015975" cy="76198"/>
          </a:xfrm>
          <a:prstGeom prst="rect">
            <a:avLst/>
          </a:prstGeom>
          <a:solidFill>
            <a:srgbClr val="8B5CF6"/>
          </a:solidFill>
          <a:ln/>
        </p:spPr>
        <p:txBody>
          <a:bodyPr/>
          <a:lstStyle/>
          <a:p>
            <a:endParaRPr lang="en-US"/>
          </a:p>
        </p:txBody>
      </p:sp>
      <p:sp>
        <p:nvSpPr>
          <p:cNvPr id="13" name="Text 7"/>
          <p:cNvSpPr/>
          <p:nvPr/>
        </p:nvSpPr>
        <p:spPr>
          <a:xfrm>
            <a:off x="8144730" y="1925272"/>
            <a:ext cx="3284985" cy="698483"/>
          </a:xfrm>
          <a:prstGeom prst="rect">
            <a:avLst/>
          </a:prstGeom>
          <a:noFill/>
          <a:ln/>
        </p:spPr>
        <p:txBody>
          <a:bodyPr wrap="square" lIns="0" tIns="0" rIns="0" bIns="0" rtlCol="0" anchor="t"/>
          <a:lstStyle/>
          <a:p>
            <a:pPr marL="0" indent="0" algn="l">
              <a:lnSpc>
                <a:spcPct val="120000"/>
              </a:lnSpc>
              <a:buNone/>
            </a:pPr>
            <a:r>
              <a:rPr lang="en-US" sz="1400" b="1" dirty="0">
                <a:solidFill>
                  <a:srgbClr val="00FFFF"/>
                </a:solidFill>
                <a:latin typeface="Calibri" pitchFamily="34" charset="0"/>
                <a:ea typeface="Calibri" pitchFamily="34" charset="-122"/>
                <a:cs typeface="Calibri" pitchFamily="34" charset="-120"/>
              </a:rPr>
              <a:t>Need for Further Analysis
</a:t>
            </a:r>
            <a:endParaRPr lang="en-US" sz="1400" dirty="0"/>
          </a:p>
        </p:txBody>
      </p:sp>
      <p:sp>
        <p:nvSpPr>
          <p:cNvPr id="14" name="Text 8"/>
          <p:cNvSpPr/>
          <p:nvPr/>
        </p:nvSpPr>
        <p:spPr>
          <a:xfrm>
            <a:off x="8144730" y="2877748"/>
            <a:ext cx="3284985" cy="1269968"/>
          </a:xfrm>
          <a:prstGeom prst="rect">
            <a:avLst/>
          </a:prstGeom>
          <a:noFill/>
          <a:ln/>
        </p:spPr>
        <p:txBody>
          <a:bodyPr wrap="square" lIns="0" tIns="0" rIns="0" bIns="0" rtlCol="0" anchor="t"/>
          <a:lstStyle/>
          <a:p>
            <a:pPr marL="0" indent="0" algn="l">
              <a:lnSpc>
                <a:spcPct val="160000"/>
              </a:lnSpc>
              <a:buNone/>
            </a:pPr>
            <a:r>
              <a:rPr lang="en-US" sz="1300" dirty="0">
                <a:solidFill>
                  <a:srgbClr val="B8C5D6"/>
                </a:solidFill>
                <a:latin typeface="Calibri" pitchFamily="34" charset="0"/>
                <a:ea typeface="Calibri" pitchFamily="34" charset="-122"/>
                <a:cs typeface="Calibri" pitchFamily="34" charset="-120"/>
              </a:rPr>
              <a:t>Further exploration of the dataset can uncover additional factors influencing survival, encouraging deeper investigation into historical maritime disasters and their implications.
</a:t>
            </a:r>
            <a:endParaRPr lang="en-US" sz="1300" dirty="0"/>
          </a:p>
        </p:txBody>
      </p:sp>
      <p:sp>
        <p:nvSpPr>
          <p:cNvPr id="15" name="Shape 9"/>
          <p:cNvSpPr/>
          <p:nvPr/>
        </p:nvSpPr>
        <p:spPr>
          <a:xfrm>
            <a:off x="8144730" y="4782700"/>
            <a:ext cx="999270" cy="76198"/>
          </a:xfrm>
          <a:prstGeom prst="rect">
            <a:avLst/>
          </a:prstGeom>
          <a:solidFill>
            <a:srgbClr val="00FFFF"/>
          </a:solidFill>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69968" y="1269968"/>
            <a:ext cx="5079873" cy="5079873"/>
          </a:xfrm>
          <a:prstGeom prst="rect">
            <a:avLst/>
          </a:prstGeom>
        </p:spPr>
      </p:pic>
      <p:pic>
        <p:nvPicPr>
          <p:cNvPr id="3" name="Image 1" descr="preencoded.png"/>
          <p:cNvPicPr>
            <a:picLocks noChangeAspect="1"/>
          </p:cNvPicPr>
          <p:nvPr/>
        </p:nvPicPr>
        <p:blipFill>
          <a:blip r:embed="rId3"/>
          <a:stretch>
            <a:fillRect/>
          </a:stretch>
        </p:blipFill>
        <p:spPr>
          <a:xfrm>
            <a:off x="-1269968" y="1269968"/>
            <a:ext cx="5079873" cy="5079873"/>
          </a:xfrm>
          <a:prstGeom prst="rect">
            <a:avLst/>
          </a:prstGeom>
        </p:spPr>
      </p:pic>
      <p:pic>
        <p:nvPicPr>
          <p:cNvPr id="4" name="Image 2" descr="preencoded.png"/>
          <p:cNvPicPr>
            <a:picLocks noChangeAspect="1"/>
          </p:cNvPicPr>
          <p:nvPr/>
        </p:nvPicPr>
        <p:blipFill>
          <a:blip r:embed="rId4"/>
          <a:stretch>
            <a:fillRect/>
          </a:stretch>
        </p:blipFill>
        <p:spPr>
          <a:xfrm>
            <a:off x="6349841" y="2031949"/>
            <a:ext cx="5079873" cy="3301917"/>
          </a:xfrm>
          <a:prstGeom prst="rect">
            <a:avLst/>
          </a:prstGeom>
        </p:spPr>
      </p:pic>
      <p:pic>
        <p:nvPicPr>
          <p:cNvPr id="5" name="Image 3" descr="preencoded.png"/>
          <p:cNvPicPr>
            <a:picLocks noChangeAspect="1"/>
          </p:cNvPicPr>
          <p:nvPr/>
        </p:nvPicPr>
        <p:blipFill>
          <a:blip r:embed="rId4"/>
          <a:stretch>
            <a:fillRect/>
          </a:stretch>
        </p:blipFill>
        <p:spPr>
          <a:xfrm>
            <a:off x="6349841" y="2031949"/>
            <a:ext cx="5079873" cy="3301917"/>
          </a:xfrm>
          <a:prstGeom prst="rect">
            <a:avLst/>
          </a:prstGeom>
        </p:spPr>
      </p:pic>
      <p:sp>
        <p:nvSpPr>
          <p:cNvPr id="6" name="Text 0"/>
          <p:cNvSpPr/>
          <p:nvPr/>
        </p:nvSpPr>
        <p:spPr>
          <a:xfrm>
            <a:off x="1015975" y="634984"/>
            <a:ext cx="10159746" cy="888978"/>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Emotional Impact of Titanic
</a:t>
            </a:r>
            <a:endParaRPr lang="en-US" sz="2900" dirty="0"/>
          </a:p>
        </p:txBody>
      </p:sp>
      <p:sp>
        <p:nvSpPr>
          <p:cNvPr id="7" name="Text 1"/>
          <p:cNvSpPr/>
          <p:nvPr/>
        </p:nvSpPr>
        <p:spPr>
          <a:xfrm>
            <a:off x="6476838" y="2285943"/>
            <a:ext cx="4825879" cy="2793930"/>
          </a:xfrm>
          <a:prstGeom prst="rect">
            <a:avLst/>
          </a:prstGeom>
          <a:noFill/>
          <a:ln/>
        </p:spPr>
        <p:txBody>
          <a:bodyPr wrap="square" lIns="1016" tIns="1016" rIns="1016" bIns="1016" rtlCol="0" anchor="t"/>
          <a:lstStyle/>
          <a:p>
            <a:pPr marL="0" indent="0" algn="l">
              <a:lnSpc>
                <a:spcPct val="150000"/>
              </a:lnSpc>
              <a:buNone/>
            </a:pPr>
            <a:r>
              <a:rPr lang="en-US" sz="1300" dirty="0">
                <a:solidFill>
                  <a:srgbClr val="B8C5D6"/>
                </a:solidFill>
                <a:latin typeface="Calibri" pitchFamily="34" charset="0"/>
                <a:ea typeface="Calibri" pitchFamily="34" charset="-122"/>
                <a:cs typeface="Calibri" pitchFamily="34" charset="-120"/>
              </a:rPr>
              <a:t>This visual captures the haunting image of the Titanic sinking, evoking the tragedy's emotional weight. It serves as a reminder of the lives lost and the lessons learned from this disaster.
</a:t>
            </a:r>
            <a:endParaRPr lang="en-US" sz="1300" dirty="0"/>
          </a:p>
        </p:txBody>
      </p:sp>
      <p:pic>
        <p:nvPicPr>
          <p:cNvPr id="8" name="Image 4" descr="https://images.unsplash.com/photo-1632580757871-e04f3a7e9917?crop=entropy&amp;cs=tinysrgb&amp;fit=max&amp;fm=jpg&amp;ixid=M3w2Njc0MzZ8MHwxfHNlYXJjaHwxfHxUaXRhbmljJTIwc2lua2luZ3xlbnwwfHx8fDE3NzI4NTMwODN8MA&amp;ixlib=rb-4.1.0&amp;q=80&amp;w=1080"/>
          <p:cNvPicPr>
            <a:picLocks noChangeAspect="1"/>
          </p:cNvPicPr>
          <p:nvPr/>
        </p:nvPicPr>
        <p:blipFill>
          <a:blip r:embed="rId5"/>
          <a:srcRect/>
          <a:stretch/>
        </p:blipFill>
        <p:spPr>
          <a:xfrm>
            <a:off x="1015975" y="1777956"/>
            <a:ext cx="4825879" cy="40638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190895" y="2285943"/>
            <a:ext cx="3809905" cy="3809905"/>
          </a:xfrm>
          <a:prstGeom prst="rect">
            <a:avLst/>
          </a:prstGeom>
        </p:spPr>
      </p:pic>
      <p:pic>
        <p:nvPicPr>
          <p:cNvPr id="3" name="Image 1" descr="preencoded.png"/>
          <p:cNvPicPr>
            <a:picLocks noChangeAspect="1"/>
          </p:cNvPicPr>
          <p:nvPr/>
        </p:nvPicPr>
        <p:blipFill>
          <a:blip r:embed="rId3"/>
          <a:stretch>
            <a:fillRect/>
          </a:stretch>
        </p:blipFill>
        <p:spPr>
          <a:xfrm>
            <a:off x="4190895" y="2285943"/>
            <a:ext cx="3809905" cy="3809905"/>
          </a:xfrm>
          <a:prstGeom prst="rect">
            <a:avLst/>
          </a:prstGeom>
        </p:spPr>
      </p:pic>
      <p:pic>
        <p:nvPicPr>
          <p:cNvPr id="4" name="Image 2" descr="preencoded.png"/>
          <p:cNvPicPr>
            <a:picLocks noChangeAspect="1"/>
          </p:cNvPicPr>
          <p:nvPr/>
        </p:nvPicPr>
        <p:blipFill>
          <a:blip r:embed="rId4"/>
          <a:stretch>
            <a:fillRect/>
          </a:stretch>
        </p:blipFill>
        <p:spPr>
          <a:xfrm>
            <a:off x="11175721" y="5841854"/>
            <a:ext cx="634984" cy="634984"/>
          </a:xfrm>
          <a:prstGeom prst="rect">
            <a:avLst/>
          </a:prstGeom>
        </p:spPr>
      </p:pic>
      <p:pic>
        <p:nvPicPr>
          <p:cNvPr id="5" name="Image 3" descr="preencoded.png"/>
          <p:cNvPicPr>
            <a:picLocks noChangeAspect="1"/>
          </p:cNvPicPr>
          <p:nvPr/>
        </p:nvPicPr>
        <p:blipFill>
          <a:blip r:embed="rId5"/>
          <a:stretch>
            <a:fillRect/>
          </a:stretch>
        </p:blipFill>
        <p:spPr>
          <a:xfrm>
            <a:off x="380990" y="5841854"/>
            <a:ext cx="634984" cy="634984"/>
          </a:xfrm>
          <a:prstGeom prst="rect">
            <a:avLst/>
          </a:prstGeom>
        </p:spPr>
      </p:pic>
      <p:pic>
        <p:nvPicPr>
          <p:cNvPr id="6" name="Image 4" descr="preencoded.png"/>
          <p:cNvPicPr>
            <a:picLocks noChangeAspect="1"/>
          </p:cNvPicPr>
          <p:nvPr/>
        </p:nvPicPr>
        <p:blipFill>
          <a:blip r:embed="rId6"/>
          <a:stretch>
            <a:fillRect/>
          </a:stretch>
        </p:blipFill>
        <p:spPr>
          <a:xfrm>
            <a:off x="11175721" y="380990"/>
            <a:ext cx="634984" cy="634984"/>
          </a:xfrm>
          <a:prstGeom prst="rect">
            <a:avLst/>
          </a:prstGeom>
        </p:spPr>
      </p:pic>
      <p:pic>
        <p:nvPicPr>
          <p:cNvPr id="7" name="Image 5" descr="preencoded.png"/>
          <p:cNvPicPr>
            <a:picLocks noChangeAspect="1"/>
          </p:cNvPicPr>
          <p:nvPr/>
        </p:nvPicPr>
        <p:blipFill>
          <a:blip r:embed="rId7"/>
          <a:stretch>
            <a:fillRect/>
          </a:stretch>
        </p:blipFill>
        <p:spPr>
          <a:xfrm>
            <a:off x="380990" y="380990"/>
            <a:ext cx="634984" cy="634984"/>
          </a:xfrm>
          <a:prstGeom prst="rect">
            <a:avLst/>
          </a:prstGeom>
        </p:spPr>
      </p:pic>
      <p:pic>
        <p:nvPicPr>
          <p:cNvPr id="8" name="Image 6" descr="preencoded.png"/>
          <p:cNvPicPr>
            <a:picLocks noChangeAspect="1"/>
          </p:cNvPicPr>
          <p:nvPr/>
        </p:nvPicPr>
        <p:blipFill>
          <a:blip r:embed="rId4"/>
          <a:stretch>
            <a:fillRect/>
          </a:stretch>
        </p:blipFill>
        <p:spPr>
          <a:xfrm>
            <a:off x="11175721" y="5841854"/>
            <a:ext cx="634984" cy="634984"/>
          </a:xfrm>
          <a:prstGeom prst="rect">
            <a:avLst/>
          </a:prstGeom>
        </p:spPr>
      </p:pic>
      <p:pic>
        <p:nvPicPr>
          <p:cNvPr id="9" name="Image 7" descr="preencoded.png"/>
          <p:cNvPicPr>
            <a:picLocks noChangeAspect="1"/>
          </p:cNvPicPr>
          <p:nvPr/>
        </p:nvPicPr>
        <p:blipFill>
          <a:blip r:embed="rId5"/>
          <a:stretch>
            <a:fillRect/>
          </a:stretch>
        </p:blipFill>
        <p:spPr>
          <a:xfrm>
            <a:off x="380990" y="5841854"/>
            <a:ext cx="634984" cy="634984"/>
          </a:xfrm>
          <a:prstGeom prst="rect">
            <a:avLst/>
          </a:prstGeom>
        </p:spPr>
      </p:pic>
      <p:pic>
        <p:nvPicPr>
          <p:cNvPr id="10" name="Image 8" descr="preencoded.png"/>
          <p:cNvPicPr>
            <a:picLocks noChangeAspect="1"/>
          </p:cNvPicPr>
          <p:nvPr/>
        </p:nvPicPr>
        <p:blipFill>
          <a:blip r:embed="rId6"/>
          <a:stretch>
            <a:fillRect/>
          </a:stretch>
        </p:blipFill>
        <p:spPr>
          <a:xfrm>
            <a:off x="11175721" y="380990"/>
            <a:ext cx="634984" cy="634984"/>
          </a:xfrm>
          <a:prstGeom prst="rect">
            <a:avLst/>
          </a:prstGeom>
        </p:spPr>
      </p:pic>
      <p:pic>
        <p:nvPicPr>
          <p:cNvPr id="11" name="Image 9" descr="preencoded.png"/>
          <p:cNvPicPr>
            <a:picLocks noChangeAspect="1"/>
          </p:cNvPicPr>
          <p:nvPr/>
        </p:nvPicPr>
        <p:blipFill>
          <a:blip r:embed="rId7"/>
          <a:stretch>
            <a:fillRect/>
          </a:stretch>
        </p:blipFill>
        <p:spPr>
          <a:xfrm>
            <a:off x="380990" y="380990"/>
            <a:ext cx="634984" cy="634984"/>
          </a:xfrm>
          <a:prstGeom prst="rect">
            <a:avLst/>
          </a:prstGeom>
        </p:spPr>
      </p:pic>
      <p:pic>
        <p:nvPicPr>
          <p:cNvPr id="12" name="Image 10" descr="preencoded.png"/>
          <p:cNvPicPr>
            <a:picLocks noChangeAspect="1"/>
          </p:cNvPicPr>
          <p:nvPr/>
        </p:nvPicPr>
        <p:blipFill>
          <a:blip r:embed="rId8"/>
          <a:stretch>
            <a:fillRect/>
          </a:stretch>
        </p:blipFill>
        <p:spPr>
          <a:xfrm>
            <a:off x="0" y="6819730"/>
            <a:ext cx="12145975" cy="914400"/>
          </a:xfrm>
          <a:prstGeom prst="rect">
            <a:avLst/>
          </a:prstGeom>
        </p:spPr>
      </p:pic>
      <p:pic>
        <p:nvPicPr>
          <p:cNvPr id="13" name="Image 11" descr="preencoded.png"/>
          <p:cNvPicPr>
            <a:picLocks noChangeAspect="1"/>
          </p:cNvPicPr>
          <p:nvPr/>
        </p:nvPicPr>
        <p:blipFill>
          <a:blip r:embed="rId9"/>
          <a:stretch>
            <a:fillRect/>
          </a:stretch>
        </p:blipFill>
        <p:spPr>
          <a:xfrm>
            <a:off x="0" y="0"/>
            <a:ext cx="12145975" cy="38099"/>
          </a:xfrm>
          <a:prstGeom prst="rect">
            <a:avLst/>
          </a:prstGeom>
        </p:spPr>
      </p:pic>
      <p:pic>
        <p:nvPicPr>
          <p:cNvPr id="14" name="Image 12" descr="preencoded.png"/>
          <p:cNvPicPr>
            <a:picLocks noChangeAspect="1"/>
          </p:cNvPicPr>
          <p:nvPr/>
        </p:nvPicPr>
        <p:blipFill>
          <a:blip r:embed="rId8"/>
          <a:stretch>
            <a:fillRect/>
          </a:stretch>
        </p:blipFill>
        <p:spPr>
          <a:xfrm>
            <a:off x="0" y="6819730"/>
            <a:ext cx="12145975" cy="914400"/>
          </a:xfrm>
          <a:prstGeom prst="rect">
            <a:avLst/>
          </a:prstGeom>
        </p:spPr>
      </p:pic>
      <p:pic>
        <p:nvPicPr>
          <p:cNvPr id="15" name="Image 13" descr="preencoded.png"/>
          <p:cNvPicPr>
            <a:picLocks noChangeAspect="1"/>
          </p:cNvPicPr>
          <p:nvPr/>
        </p:nvPicPr>
        <p:blipFill>
          <a:blip r:embed="rId9"/>
          <a:stretch>
            <a:fillRect/>
          </a:stretch>
        </p:blipFill>
        <p:spPr>
          <a:xfrm>
            <a:off x="0" y="0"/>
            <a:ext cx="12145975" cy="38099"/>
          </a:xfrm>
          <a:prstGeom prst="rect">
            <a:avLst/>
          </a:prstGeom>
        </p:spPr>
      </p:pic>
      <p:sp>
        <p:nvSpPr>
          <p:cNvPr id="16" name="Text 0"/>
          <p:cNvSpPr/>
          <p:nvPr/>
        </p:nvSpPr>
        <p:spPr>
          <a:xfrm>
            <a:off x="2285943" y="2285943"/>
            <a:ext cx="7619810" cy="1269968"/>
          </a:xfrm>
          <a:prstGeom prst="rect">
            <a:avLst/>
          </a:prstGeom>
          <a:noFill/>
          <a:ln/>
        </p:spPr>
        <p:txBody>
          <a:bodyPr wrap="square" lIns="1016" tIns="1016" rIns="1016" bIns="1016"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Key Takeaways
</a:t>
            </a:r>
            <a:endParaRPr lang="en-US" sz="2900" dirty="0"/>
          </a:p>
        </p:txBody>
      </p:sp>
      <p:sp>
        <p:nvSpPr>
          <p:cNvPr id="17" name="Text 1"/>
          <p:cNvSpPr/>
          <p:nvPr/>
        </p:nvSpPr>
        <p:spPr>
          <a:xfrm>
            <a:off x="2285943" y="3936902"/>
            <a:ext cx="7619810" cy="2666933"/>
          </a:xfrm>
          <a:prstGeom prst="rect">
            <a:avLst/>
          </a:prstGeom>
          <a:noFill/>
          <a:ln/>
        </p:spPr>
        <p:txBody>
          <a:bodyPr wrap="square" lIns="1016" tIns="1016" rIns="1016" bIns="1016" rtlCol="0" anchor="t"/>
          <a:lstStyle/>
          <a:p>
            <a:pPr marL="0" indent="0" algn="ctr">
              <a:lnSpc>
                <a:spcPct val="150000"/>
              </a:lnSpc>
              <a:buNone/>
            </a:pPr>
            <a:r>
              <a:rPr lang="en-US" sz="1300" dirty="0">
                <a:solidFill>
                  <a:srgbClr val="B8C5D6"/>
                </a:solidFill>
                <a:latin typeface="Calibri" pitchFamily="34" charset="0"/>
                <a:ea typeface="Calibri" pitchFamily="34" charset="-122"/>
                <a:cs typeface="Calibri" pitchFamily="34" charset="-120"/>
              </a:rPr>
              <a:t>The Titanic analysis highlights critical factors influencing survival, notably the significant advantage female passengers had over males. Additionally, addressing missing data is essential for accurate insights. Moving forward, further research could explore socio-economic impacts on survival rates, enhancing our understanding of historical events. This analysis not only informs historical perspectives but also emphasizes the importance of data integrity in research.
</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847</Words>
  <Application>Microsoft Office PowerPoint</Application>
  <PresentationFormat>Widescreen</PresentationFormat>
  <Paragraphs>82</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على محمد مصطفى سلامه الراعى</cp:lastModifiedBy>
  <cp:revision>3</cp:revision>
  <dcterms:created xsi:type="dcterms:W3CDTF">2026-03-07T03:20:43Z</dcterms:created>
  <dcterms:modified xsi:type="dcterms:W3CDTF">2026-03-07T04:04:55Z</dcterms:modified>
</cp:coreProperties>
</file>